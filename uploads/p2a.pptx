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548" r:id="rId3"/>
    <p:sldId id="542" r:id="rId4"/>
    <p:sldId id="563" r:id="rId5"/>
    <p:sldId id="544" r:id="rId6"/>
    <p:sldId id="556" r:id="rId7"/>
    <p:sldId id="552" r:id="rId8"/>
    <p:sldId id="543" r:id="rId9"/>
    <p:sldId id="561" r:id="rId10"/>
    <p:sldId id="557" r:id="rId11"/>
    <p:sldId id="257" r:id="rId12"/>
    <p:sldId id="564" r:id="rId13"/>
    <p:sldId id="558" r:id="rId14"/>
    <p:sldId id="562" r:id="rId15"/>
    <p:sldId id="560" r:id="rId16"/>
    <p:sldId id="553" r:id="rId17"/>
    <p:sldId id="547" r:id="rId18"/>
    <p:sldId id="550" r:id="rId19"/>
    <p:sldId id="551" r:id="rId20"/>
    <p:sldId id="410" r:id="rId21"/>
    <p:sldId id="565" r:id="rId22"/>
    <p:sldId id="566" r:id="rId23"/>
    <p:sldId id="567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0AE74-5DBA-4A40-AB1C-312CE37A8619}" v="39" dt="2025-11-11T04:40:43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73" autoAdjust="0"/>
    <p:restoredTop sz="95223" autoAdjust="0"/>
  </p:normalViewPr>
  <p:slideViewPr>
    <p:cSldViewPr snapToGrid="0">
      <p:cViewPr varScale="1">
        <p:scale>
          <a:sx n="88" d="100"/>
          <a:sy n="88" d="100"/>
        </p:scale>
        <p:origin x="39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oliana Mailde Tilman Magalhaes" userId="2c5b725d56819b5f" providerId="LiveId" clId="{ECEAE68F-0DE4-4649-861E-FB9EE55CE706}"/>
    <pc:docChg chg="undo custSel modSld sldOrd">
      <pc:chgData name="Deoliana Mailde Tilman Magalhaes" userId="2c5b725d56819b5f" providerId="LiveId" clId="{ECEAE68F-0DE4-4649-861E-FB9EE55CE706}" dt="2025-11-11T06:24:07.585" v="510"/>
      <pc:docMkLst>
        <pc:docMk/>
      </pc:docMkLst>
      <pc:sldChg chg="modSp mod modNotesTx">
        <pc:chgData name="Deoliana Mailde Tilman Magalhaes" userId="2c5b725d56819b5f" providerId="LiveId" clId="{ECEAE68F-0DE4-4649-861E-FB9EE55CE706}" dt="2025-11-11T04:32:28.369" v="493" actId="20577"/>
        <pc:sldMkLst>
          <pc:docMk/>
          <pc:sldMk cId="687904766" sldId="542"/>
        </pc:sldMkLst>
        <pc:spChg chg="mod">
          <ac:chgData name="Deoliana Mailde Tilman Magalhaes" userId="2c5b725d56819b5f" providerId="LiveId" clId="{ECEAE68F-0DE4-4649-861E-FB9EE55CE706}" dt="2025-11-11T02:54:08.182" v="261" actId="20577"/>
          <ac:spMkLst>
            <pc:docMk/>
            <pc:sldMk cId="687904766" sldId="542"/>
            <ac:spMk id="5" creationId="{B0495A3E-38DC-A619-5EC3-47227F3D5684}"/>
          </ac:spMkLst>
        </pc:spChg>
      </pc:sldChg>
      <pc:sldChg chg="addSp delSp modSp mod">
        <pc:chgData name="Deoliana Mailde Tilman Magalhaes" userId="2c5b725d56819b5f" providerId="LiveId" clId="{ECEAE68F-0DE4-4649-861E-FB9EE55CE706}" dt="2025-11-11T03:30:32.310" v="463" actId="478"/>
        <pc:sldMkLst>
          <pc:docMk/>
          <pc:sldMk cId="4193660272" sldId="543"/>
        </pc:sldMkLst>
        <pc:spChg chg="add del mod">
          <ac:chgData name="Deoliana Mailde Tilman Magalhaes" userId="2c5b725d56819b5f" providerId="LiveId" clId="{ECEAE68F-0DE4-4649-861E-FB9EE55CE706}" dt="2025-11-11T03:30:32.310" v="463" actId="478"/>
          <ac:spMkLst>
            <pc:docMk/>
            <pc:sldMk cId="4193660272" sldId="543"/>
            <ac:spMk id="4" creationId="{9F62B311-5016-D53D-4DF4-99629128D675}"/>
          </ac:spMkLst>
        </pc:spChg>
        <pc:picChg chg="mod">
          <ac:chgData name="Deoliana Mailde Tilman Magalhaes" userId="2c5b725d56819b5f" providerId="LiveId" clId="{ECEAE68F-0DE4-4649-861E-FB9EE55CE706}" dt="2025-11-11T02:50:59.993" v="245" actId="1036"/>
          <ac:picMkLst>
            <pc:docMk/>
            <pc:sldMk cId="4193660272" sldId="543"/>
            <ac:picMk id="17" creationId="{ED5D7C68-7193-B9AA-5F1A-D833129FBB7C}"/>
          </ac:picMkLst>
        </pc:picChg>
      </pc:sldChg>
      <pc:sldChg chg="modSp mod modNotesTx">
        <pc:chgData name="Deoliana Mailde Tilman Magalhaes" userId="2c5b725d56819b5f" providerId="LiveId" clId="{ECEAE68F-0DE4-4649-861E-FB9EE55CE706}" dt="2025-11-11T04:33:17.531" v="495" actId="20577"/>
        <pc:sldMkLst>
          <pc:docMk/>
          <pc:sldMk cId="1082893164" sldId="544"/>
        </pc:sldMkLst>
        <pc:spChg chg="mod">
          <ac:chgData name="Deoliana Mailde Tilman Magalhaes" userId="2c5b725d56819b5f" providerId="LiveId" clId="{ECEAE68F-0DE4-4649-861E-FB9EE55CE706}" dt="2025-11-11T03:21:07.104" v="452" actId="20577"/>
          <ac:spMkLst>
            <pc:docMk/>
            <pc:sldMk cId="1082893164" sldId="544"/>
            <ac:spMk id="9" creationId="{CCFEB111-C59F-208B-A3D0-313F710B1A90}"/>
          </ac:spMkLst>
        </pc:spChg>
        <pc:picChg chg="mod">
          <ac:chgData name="Deoliana Mailde Tilman Magalhaes" userId="2c5b725d56819b5f" providerId="LiveId" clId="{ECEAE68F-0DE4-4649-861E-FB9EE55CE706}" dt="2025-11-11T03:47:12.998" v="466" actId="14100"/>
          <ac:picMkLst>
            <pc:docMk/>
            <pc:sldMk cId="1082893164" sldId="544"/>
            <ac:picMk id="6" creationId="{7515F09D-C909-7EF4-2532-997983B99D60}"/>
          </ac:picMkLst>
        </pc:picChg>
      </pc:sldChg>
      <pc:sldChg chg="ord modNotesTx">
        <pc:chgData name="Deoliana Mailde Tilman Magalhaes" userId="2c5b725d56819b5f" providerId="LiveId" clId="{ECEAE68F-0DE4-4649-861E-FB9EE55CE706}" dt="2025-11-11T06:24:07.585" v="510"/>
        <pc:sldMkLst>
          <pc:docMk/>
          <pc:sldMk cId="251919264" sldId="548"/>
        </pc:sldMkLst>
      </pc:sldChg>
      <pc:sldChg chg="modSp mod modNotesTx">
        <pc:chgData name="Deoliana Mailde Tilman Magalhaes" userId="2c5b725d56819b5f" providerId="LiveId" clId="{ECEAE68F-0DE4-4649-861E-FB9EE55CE706}" dt="2025-11-11T04:40:42.027" v="507" actId="20577"/>
        <pc:sldMkLst>
          <pc:docMk/>
          <pc:sldMk cId="1297492070" sldId="550"/>
        </pc:sldMkLst>
        <pc:spChg chg="mod">
          <ac:chgData name="Deoliana Mailde Tilman Magalhaes" userId="2c5b725d56819b5f" providerId="LiveId" clId="{ECEAE68F-0DE4-4649-861E-FB9EE55CE706}" dt="2025-11-11T03:54:00.347" v="484" actId="1076"/>
          <ac:spMkLst>
            <pc:docMk/>
            <pc:sldMk cId="1297492070" sldId="550"/>
            <ac:spMk id="26" creationId="{B2F47772-4A0E-4D74-DF24-204E7E0039B6}"/>
          </ac:spMkLst>
        </pc:spChg>
        <pc:grpChg chg="mod">
          <ac:chgData name="Deoliana Mailde Tilman Magalhaes" userId="2c5b725d56819b5f" providerId="LiveId" clId="{ECEAE68F-0DE4-4649-861E-FB9EE55CE706}" dt="2025-11-11T03:53:49.763" v="482" actId="1076"/>
          <ac:grpSpMkLst>
            <pc:docMk/>
            <pc:sldMk cId="1297492070" sldId="550"/>
            <ac:grpSpMk id="3" creationId="{E5D2EF31-07B3-1548-B8C3-2FCE989BBEDE}"/>
          </ac:grpSpMkLst>
        </pc:grpChg>
        <pc:grpChg chg="mod">
          <ac:chgData name="Deoliana Mailde Tilman Magalhaes" userId="2c5b725d56819b5f" providerId="LiveId" clId="{ECEAE68F-0DE4-4649-861E-FB9EE55CE706}" dt="2025-11-11T03:53:19.357" v="478" actId="1038"/>
          <ac:grpSpMkLst>
            <pc:docMk/>
            <pc:sldMk cId="1297492070" sldId="550"/>
            <ac:grpSpMk id="12" creationId="{D417C0F7-5E11-003E-98DF-151FB8548AAD}"/>
          </ac:grpSpMkLst>
        </pc:grpChg>
        <pc:picChg chg="mod">
          <ac:chgData name="Deoliana Mailde Tilman Magalhaes" userId="2c5b725d56819b5f" providerId="LiveId" clId="{ECEAE68F-0DE4-4649-861E-FB9EE55CE706}" dt="2025-11-11T03:53:47.143" v="480" actId="1076"/>
          <ac:picMkLst>
            <pc:docMk/>
            <pc:sldMk cId="1297492070" sldId="550"/>
            <ac:picMk id="18" creationId="{17F54818-46FA-2055-8AF8-9AD37C38E71F}"/>
          </ac:picMkLst>
        </pc:picChg>
      </pc:sldChg>
      <pc:sldChg chg="addSp delSp modSp mod">
        <pc:chgData name="Deoliana Mailde Tilman Magalhaes" userId="2c5b725d56819b5f" providerId="LiveId" clId="{ECEAE68F-0DE4-4649-861E-FB9EE55CE706}" dt="2025-11-11T03:54:36.623" v="487" actId="478"/>
        <pc:sldMkLst>
          <pc:docMk/>
          <pc:sldMk cId="3574509087" sldId="551"/>
        </pc:sldMkLst>
        <pc:spChg chg="mod">
          <ac:chgData name="Deoliana Mailde Tilman Magalhaes" userId="2c5b725d56819b5f" providerId="LiveId" clId="{ECEAE68F-0DE4-4649-861E-FB9EE55CE706}" dt="2025-11-11T03:28:21.521" v="456" actId="20577"/>
          <ac:spMkLst>
            <pc:docMk/>
            <pc:sldMk cId="3574509087" sldId="551"/>
            <ac:spMk id="3" creationId="{87BE3D09-F508-DBB3-5168-02264DB349F3}"/>
          </ac:spMkLst>
        </pc:spChg>
        <pc:spChg chg="add del mod">
          <ac:chgData name="Deoliana Mailde Tilman Magalhaes" userId="2c5b725d56819b5f" providerId="LiveId" clId="{ECEAE68F-0DE4-4649-861E-FB9EE55CE706}" dt="2025-11-11T03:54:34.954" v="486" actId="478"/>
          <ac:spMkLst>
            <pc:docMk/>
            <pc:sldMk cId="3574509087" sldId="551"/>
            <ac:spMk id="4" creationId="{EE7CB086-9369-EACD-F930-A3DE5CF4E600}"/>
          </ac:spMkLst>
        </pc:spChg>
        <pc:picChg chg="add del mod">
          <ac:chgData name="Deoliana Mailde Tilman Magalhaes" userId="2c5b725d56819b5f" providerId="LiveId" clId="{ECEAE68F-0DE4-4649-861E-FB9EE55CE706}" dt="2025-11-11T03:54:33.209" v="485" actId="478"/>
          <ac:picMkLst>
            <pc:docMk/>
            <pc:sldMk cId="3574509087" sldId="551"/>
            <ac:picMk id="6" creationId="{7DF6ACB4-CC55-82F5-15D1-01AE400E8F89}"/>
          </ac:picMkLst>
        </pc:picChg>
        <pc:picChg chg="add del mod">
          <ac:chgData name="Deoliana Mailde Tilman Magalhaes" userId="2c5b725d56819b5f" providerId="LiveId" clId="{ECEAE68F-0DE4-4649-861E-FB9EE55CE706}" dt="2025-11-11T03:54:36.623" v="487" actId="478"/>
          <ac:picMkLst>
            <pc:docMk/>
            <pc:sldMk cId="3574509087" sldId="551"/>
            <ac:picMk id="1026" creationId="{7E2AB605-62F4-D4F4-09EE-BA5879655723}"/>
          </ac:picMkLst>
        </pc:picChg>
      </pc:sldChg>
      <pc:sldChg chg="modSp mod">
        <pc:chgData name="Deoliana Mailde Tilman Magalhaes" userId="2c5b725d56819b5f" providerId="LiveId" clId="{ECEAE68F-0DE4-4649-861E-FB9EE55CE706}" dt="2025-11-11T03:55:02.817" v="489" actId="1076"/>
        <pc:sldMkLst>
          <pc:docMk/>
          <pc:sldMk cId="820142400" sldId="553"/>
        </pc:sldMkLst>
        <pc:picChg chg="mod">
          <ac:chgData name="Deoliana Mailde Tilman Magalhaes" userId="2c5b725d56819b5f" providerId="LiveId" clId="{ECEAE68F-0DE4-4649-861E-FB9EE55CE706}" dt="2025-11-11T03:55:02.817" v="489" actId="1076"/>
          <ac:picMkLst>
            <pc:docMk/>
            <pc:sldMk cId="820142400" sldId="553"/>
            <ac:picMk id="3" creationId="{7FD066AE-F95C-4EF4-86E0-88088F352E49}"/>
          </ac:picMkLst>
        </pc:picChg>
      </pc:sldChg>
      <pc:sldChg chg="modSp mod">
        <pc:chgData name="Deoliana Mailde Tilman Magalhaes" userId="2c5b725d56819b5f" providerId="LiveId" clId="{ECEAE68F-0DE4-4649-861E-FB9EE55CE706}" dt="2025-11-11T03:47:56.307" v="468" actId="1076"/>
        <pc:sldMkLst>
          <pc:docMk/>
          <pc:sldMk cId="1552874608" sldId="556"/>
        </pc:sldMkLst>
        <pc:spChg chg="mod">
          <ac:chgData name="Deoliana Mailde Tilman Magalhaes" userId="2c5b725d56819b5f" providerId="LiveId" clId="{ECEAE68F-0DE4-4649-861E-FB9EE55CE706}" dt="2025-11-11T01:11:51.035" v="181" actId="20577"/>
          <ac:spMkLst>
            <pc:docMk/>
            <pc:sldMk cId="1552874608" sldId="556"/>
            <ac:spMk id="5" creationId="{2DEF1892-F0E2-5B9B-F51C-3C4E4FA58A39}"/>
          </ac:spMkLst>
        </pc:spChg>
        <pc:picChg chg="mod">
          <ac:chgData name="Deoliana Mailde Tilman Magalhaes" userId="2c5b725d56819b5f" providerId="LiveId" clId="{ECEAE68F-0DE4-4649-861E-FB9EE55CE706}" dt="2025-11-11T03:47:56.307" v="468" actId="1076"/>
          <ac:picMkLst>
            <pc:docMk/>
            <pc:sldMk cId="1552874608" sldId="556"/>
            <ac:picMk id="4" creationId="{6BE51AAA-E278-5EEA-71F9-19C2CFBD1183}"/>
          </ac:picMkLst>
        </pc:picChg>
      </pc:sldChg>
      <pc:sldChg chg="modNotesTx">
        <pc:chgData name="Deoliana Mailde Tilman Magalhaes" userId="2c5b725d56819b5f" providerId="LiveId" clId="{ECEAE68F-0DE4-4649-861E-FB9EE55CE706}" dt="2025-11-11T04:35:53.356" v="501" actId="20577"/>
        <pc:sldMkLst>
          <pc:docMk/>
          <pc:sldMk cId="3050931269" sldId="557"/>
        </pc:sldMkLst>
      </pc:sldChg>
      <pc:sldChg chg="modSp mod">
        <pc:chgData name="Deoliana Mailde Tilman Magalhaes" userId="2c5b725d56819b5f" providerId="LiveId" clId="{ECEAE68F-0DE4-4649-861E-FB9EE55CE706}" dt="2025-11-11T03:51:24.127" v="473" actId="1076"/>
        <pc:sldMkLst>
          <pc:docMk/>
          <pc:sldMk cId="2495730363" sldId="558"/>
        </pc:sldMkLst>
        <pc:picChg chg="mod">
          <ac:chgData name="Deoliana Mailde Tilman Magalhaes" userId="2c5b725d56819b5f" providerId="LiveId" clId="{ECEAE68F-0DE4-4649-861E-FB9EE55CE706}" dt="2025-11-11T03:51:24.127" v="473" actId="1076"/>
          <ac:picMkLst>
            <pc:docMk/>
            <pc:sldMk cId="2495730363" sldId="558"/>
            <ac:picMk id="4" creationId="{B6DB02C1-5EC8-9002-13D3-2E59F6FF0DBF}"/>
          </ac:picMkLst>
        </pc:picChg>
      </pc:sldChg>
      <pc:sldChg chg="modSp mod">
        <pc:chgData name="Deoliana Mailde Tilman Magalhaes" userId="2c5b725d56819b5f" providerId="LiveId" clId="{ECEAE68F-0DE4-4649-861E-FB9EE55CE706}" dt="2025-11-11T01:15:23.398" v="182" actId="1076"/>
        <pc:sldMkLst>
          <pc:docMk/>
          <pc:sldMk cId="4270508274" sldId="560"/>
        </pc:sldMkLst>
        <pc:grpChg chg="mod">
          <ac:chgData name="Deoliana Mailde Tilman Magalhaes" userId="2c5b725d56819b5f" providerId="LiveId" clId="{ECEAE68F-0DE4-4649-861E-FB9EE55CE706}" dt="2025-11-11T01:15:23.398" v="182" actId="1076"/>
          <ac:grpSpMkLst>
            <pc:docMk/>
            <pc:sldMk cId="4270508274" sldId="560"/>
            <ac:grpSpMk id="21" creationId="{4683E245-CF8D-5AD3-F9EE-1E9D30BA481E}"/>
          </ac:grpSpMkLst>
        </pc:grpChg>
      </pc:sldChg>
      <pc:sldChg chg="modSp mod modNotesTx">
        <pc:chgData name="Deoliana Mailde Tilman Magalhaes" userId="2c5b725d56819b5f" providerId="LiveId" clId="{ECEAE68F-0DE4-4649-861E-FB9EE55CE706}" dt="2025-11-11T04:35:17.670" v="499" actId="20577"/>
        <pc:sldMkLst>
          <pc:docMk/>
          <pc:sldMk cId="3478877778" sldId="561"/>
        </pc:sldMkLst>
        <pc:spChg chg="mod">
          <ac:chgData name="Deoliana Mailde Tilman Magalhaes" userId="2c5b725d56819b5f" providerId="LiveId" clId="{ECEAE68F-0DE4-4649-861E-FB9EE55CE706}" dt="2025-11-11T00:58:39.991" v="0"/>
          <ac:spMkLst>
            <pc:docMk/>
            <pc:sldMk cId="3478877778" sldId="561"/>
            <ac:spMk id="2" creationId="{2BECC042-3D5A-9B1B-B8AC-144C2E45AB39}"/>
          </ac:spMkLst>
        </pc:spChg>
        <pc:picChg chg="mod">
          <ac:chgData name="Deoliana Mailde Tilman Magalhaes" userId="2c5b725d56819b5f" providerId="LiveId" clId="{ECEAE68F-0DE4-4649-861E-FB9EE55CE706}" dt="2025-11-11T03:49:44.721" v="471" actId="1076"/>
          <ac:picMkLst>
            <pc:docMk/>
            <pc:sldMk cId="3478877778" sldId="561"/>
            <ac:picMk id="6" creationId="{CA60C3BF-B34F-2AD3-3350-1E0345903FC4}"/>
          </ac:picMkLst>
        </pc:picChg>
      </pc:sldChg>
      <pc:sldChg chg="addSp modSp mod">
        <pc:chgData name="Deoliana Mailde Tilman Magalhaes" userId="2c5b725d56819b5f" providerId="LiveId" clId="{ECEAE68F-0DE4-4649-861E-FB9EE55CE706}" dt="2025-11-11T03:51:41.423" v="474" actId="1076"/>
        <pc:sldMkLst>
          <pc:docMk/>
          <pc:sldMk cId="1687031131" sldId="562"/>
        </pc:sldMkLst>
        <pc:spChg chg="add mod">
          <ac:chgData name="Deoliana Mailde Tilman Magalhaes" userId="2c5b725d56819b5f" providerId="LiveId" clId="{ECEAE68F-0DE4-4649-861E-FB9EE55CE706}" dt="2025-11-11T01:07:33.044" v="137" actId="20577"/>
          <ac:spMkLst>
            <pc:docMk/>
            <pc:sldMk cId="1687031131" sldId="562"/>
            <ac:spMk id="3" creationId="{F5A5B0A5-3870-0946-397B-04E83B624831}"/>
          </ac:spMkLst>
        </pc:spChg>
        <pc:picChg chg="mod">
          <ac:chgData name="Deoliana Mailde Tilman Magalhaes" userId="2c5b725d56819b5f" providerId="LiveId" clId="{ECEAE68F-0DE4-4649-861E-FB9EE55CE706}" dt="2025-11-11T03:51:41.423" v="474" actId="1076"/>
          <ac:picMkLst>
            <pc:docMk/>
            <pc:sldMk cId="1687031131" sldId="562"/>
            <ac:picMk id="7" creationId="{F0455111-0C66-30E0-E343-34146CCD7FA4}"/>
          </ac:picMkLst>
        </pc:picChg>
      </pc:sldChg>
      <pc:sldChg chg="addSp modSp mod modNotesTx">
        <pc:chgData name="Deoliana Mailde Tilman Magalhaes" userId="2c5b725d56819b5f" providerId="LiveId" clId="{ECEAE68F-0DE4-4649-861E-FB9EE55CE706}" dt="2025-11-11T04:32:54.539" v="494" actId="20577"/>
        <pc:sldMkLst>
          <pc:docMk/>
          <pc:sldMk cId="3796068099" sldId="563"/>
        </pc:sldMkLst>
        <pc:spChg chg="add mod">
          <ac:chgData name="Deoliana Mailde Tilman Magalhaes" userId="2c5b725d56819b5f" providerId="LiveId" clId="{ECEAE68F-0DE4-4649-861E-FB9EE55CE706}" dt="2025-11-11T01:04:08.192" v="73" actId="20577"/>
          <ac:spMkLst>
            <pc:docMk/>
            <pc:sldMk cId="3796068099" sldId="563"/>
            <ac:spMk id="7" creationId="{81994604-77CB-E2D0-E904-66539BB70344}"/>
          </ac:spMkLst>
        </pc:spChg>
      </pc:sldChg>
      <pc:sldChg chg="addSp delSp modSp mod">
        <pc:chgData name="Deoliana Mailde Tilman Magalhaes" userId="2c5b725d56819b5f" providerId="LiveId" clId="{ECEAE68F-0DE4-4649-861E-FB9EE55CE706}" dt="2025-11-11T03:12:45.374" v="411" actId="1036"/>
        <pc:sldMkLst>
          <pc:docMk/>
          <pc:sldMk cId="1608348303" sldId="564"/>
        </pc:sldMkLst>
        <pc:spChg chg="add del mod">
          <ac:chgData name="Deoliana Mailde Tilman Magalhaes" userId="2c5b725d56819b5f" providerId="LiveId" clId="{ECEAE68F-0DE4-4649-861E-FB9EE55CE706}" dt="2025-11-11T03:12:36.083" v="402" actId="478"/>
          <ac:spMkLst>
            <pc:docMk/>
            <pc:sldMk cId="1608348303" sldId="564"/>
            <ac:spMk id="40" creationId="{9B0A06CB-138D-1FB8-D6B5-111D6617FC4E}"/>
          </ac:spMkLst>
        </pc:spChg>
        <pc:spChg chg="mod">
          <ac:chgData name="Deoliana Mailde Tilman Magalhaes" userId="2c5b725d56819b5f" providerId="LiveId" clId="{ECEAE68F-0DE4-4649-861E-FB9EE55CE706}" dt="2025-11-11T03:12:30" v="400" actId="1076"/>
          <ac:spMkLst>
            <pc:docMk/>
            <pc:sldMk cId="1608348303" sldId="564"/>
            <ac:spMk id="75" creationId="{9272532B-FA80-1454-6806-8C54F033AA12}"/>
          </ac:spMkLst>
        </pc:spChg>
        <pc:spChg chg="mod">
          <ac:chgData name="Deoliana Mailde Tilman Magalhaes" userId="2c5b725d56819b5f" providerId="LiveId" clId="{ECEAE68F-0DE4-4649-861E-FB9EE55CE706}" dt="2025-11-11T03:12:40.359" v="403" actId="1076"/>
          <ac:spMkLst>
            <pc:docMk/>
            <pc:sldMk cId="1608348303" sldId="564"/>
            <ac:spMk id="76" creationId="{3DA0DED8-06AB-1B3F-EC40-6D2727553737}"/>
          </ac:spMkLst>
        </pc:spChg>
        <pc:grpChg chg="mod">
          <ac:chgData name="Deoliana Mailde Tilman Magalhaes" userId="2c5b725d56819b5f" providerId="LiveId" clId="{ECEAE68F-0DE4-4649-861E-FB9EE55CE706}" dt="2025-11-11T03:12:45.374" v="411" actId="1036"/>
          <ac:grpSpMkLst>
            <pc:docMk/>
            <pc:sldMk cId="1608348303" sldId="564"/>
            <ac:grpSpMk id="3" creationId="{2BCA7FBD-E5EA-C326-9543-3435B8D8720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780EB-8C32-418D-8A48-73B7AFA7396D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6410-58CE-4734-9CB2-6FA06409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8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“Good afternoon everyone. I’m Deoliana Matilde, and today I’ll present my progress on simulating a 2D 8×8 ultrasound transducer using the </a:t>
            </a:r>
            <a:r>
              <a:rPr lang="en-US" sz="2000" dirty="0" err="1"/>
              <a:t>Verasonics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425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main objective is to simulate the 8×8 transducer geometry and study beamforming behavior.</a:t>
            </a:r>
            <a:br>
              <a:rPr lang="en-US" dirty="0"/>
            </a:br>
            <a:r>
              <a:rPr lang="en-US" dirty="0"/>
              <a:t>I examined two cases — plane-wave transmission with multiple steering angles and a single, unfocused plane wave.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904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diagram shows the </a:t>
            </a:r>
            <a:r>
              <a:rPr lang="en-US" dirty="0" err="1"/>
              <a:t>Verasonics</a:t>
            </a:r>
            <a:r>
              <a:rPr lang="en-US" dirty="0"/>
              <a:t> imaging sequence.</a:t>
            </a:r>
            <a:br>
              <a:rPr lang="en-US" dirty="0"/>
            </a:br>
            <a:r>
              <a:rPr lang="en-US" dirty="0"/>
              <a:t>It begins with transmission and reception, then data is transferred for reconstruction, processing, and finally displayed.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169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“My custom array consists of 64 elements, with an 11 MHz center frequency and 300 µm pitch.</a:t>
            </a:r>
            <a:br>
              <a:rPr lang="en-US" dirty="0"/>
            </a:br>
            <a:r>
              <a:rPr lang="en-US" dirty="0"/>
              <a:t>The gap between elements is around 90 µm, and the element size is 210 µm.</a:t>
            </a:r>
            <a:br>
              <a:rPr lang="en-US" dirty="0"/>
            </a:br>
            <a:r>
              <a:rPr lang="en-US" dirty="0"/>
              <a:t>with the sound speed of 1540 m/s.”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749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code snippet defines the imaging region in </a:t>
            </a:r>
            <a:r>
              <a:rPr lang="en-US" dirty="0" err="1"/>
              <a:t>Verasonics</a:t>
            </a:r>
            <a:r>
              <a:rPr lang="en-US" dirty="0"/>
              <a:t>, known as </a:t>
            </a:r>
            <a:r>
              <a:rPr lang="en-US" i="1" dirty="0" err="1"/>
              <a:t>PData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 I set up a cone-shaped field of view with a 20-degree angle and defined slices for XY, YZ, and XZ planes.”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933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plots show the simulation geometry.</a:t>
            </a:r>
            <a:br>
              <a:rPr lang="en-US" dirty="0"/>
            </a:br>
            <a:r>
              <a:rPr lang="en-US" dirty="0"/>
              <a:t>The medium points are randomly scattered, and the </a:t>
            </a:r>
            <a:r>
              <a:rPr lang="en-US" dirty="0" err="1"/>
              <a:t>PData</a:t>
            </a:r>
            <a:r>
              <a:rPr lang="en-US" dirty="0"/>
              <a:t> region represents the cone-shaped imaging zone viewed from different planes.”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683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“For the first experiment, I implemented plane-wave compounding using five steering angles: −20, −10, 0, +10, and +20 degrees.</a:t>
            </a:r>
            <a:br>
              <a:rPr lang="en-US" dirty="0"/>
            </a:br>
            <a:r>
              <a:rPr lang="en-US" dirty="0"/>
              <a:t>Each transmission fires all 64 elements simultaneously, but with </a:t>
            </a:r>
            <a:r>
              <a:rPr lang="en-US" b="1" dirty="0"/>
              <a:t>linear time delays</a:t>
            </a:r>
            <a:r>
              <a:rPr lang="en-US" dirty="0"/>
              <a:t> computed from the steering angle.</a:t>
            </a:r>
            <a:br>
              <a:rPr lang="en-US" dirty="0"/>
            </a:br>
            <a:r>
              <a:rPr lang="en-US" dirty="0"/>
              <a:t>These delays tilt the plane wave in the desired direction, giving different angular views of the same scene.”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400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the second setup, I used a single plane-wave transmission with </a:t>
            </a:r>
            <a:r>
              <a:rPr lang="en-US" b="1" dirty="0"/>
              <a:t>no steering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Here, all elements fire at exactly the same time, producing a </a:t>
            </a:r>
            <a:r>
              <a:rPr lang="en-US" b="1" dirty="0"/>
              <a:t>flat wavefront</a:t>
            </a:r>
            <a:r>
              <a:rPr lang="en-US" dirty="0"/>
              <a:t> that propagates straight along the z-axis.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901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Event Analysis Tool is used to verify transmit parameters.</a:t>
            </a:r>
            <a:br>
              <a:rPr lang="en-US" dirty="0"/>
            </a:br>
            <a:r>
              <a:rPr lang="en-US" dirty="0"/>
              <a:t>As shown, the delay patterns vary with steering angle, while for the single flash case, all delays are uniform.”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628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plots show simulated wave propagation for the five steering angles.</a:t>
            </a:r>
            <a:br>
              <a:rPr lang="en-US" dirty="0"/>
            </a:br>
            <a:r>
              <a:rPr lang="en-US" dirty="0"/>
              <a:t>At −20°, the beam tilts to the left; at +20°, it tilts to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437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figure shows the single, non-steered transmission.</a:t>
            </a:r>
            <a:br>
              <a:rPr lang="en-US" dirty="0"/>
            </a:br>
            <a:r>
              <a:rPr lang="en-US" dirty="0"/>
              <a:t>The wavefront is symmetric and moves straight along the z-axis,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494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 is the raw RF data recorded for each transmit event.</a:t>
            </a:r>
            <a:br>
              <a:rPr lang="en-US" dirty="0"/>
            </a:br>
            <a:r>
              <a:rPr lang="en-US" dirty="0"/>
              <a:t>There are five acquisitions corresponding to the five steering angles.</a:t>
            </a:r>
            <a:br>
              <a:rPr lang="en-US" dirty="0"/>
            </a:br>
            <a:r>
              <a:rPr lang="en-US" dirty="0"/>
              <a:t>You can see how the signal arrival times differ slightly due to the tilted propagation path.”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005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plot shows the RF signal received in the no-steering condition.</a:t>
            </a:r>
            <a:br>
              <a:rPr lang="en-US" dirty="0"/>
            </a:br>
            <a:r>
              <a:rPr lang="en-US" dirty="0"/>
              <a:t>Channels 16 and 48 are shown here — both symmetric, reflecting the equal propagation distance for all elements.”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44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“After data acquisition, the individual RF datasets are reconstructed and compounded.</a:t>
            </a:r>
            <a:br>
              <a:rPr lang="en-US" dirty="0"/>
            </a:br>
            <a:r>
              <a:rPr lang="en-US" dirty="0"/>
              <a:t>The resulting images are shown here for the XY, XZ, and YZ slices.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080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“After data acquisition, the individual RF datasets are reconstructed and compounded.</a:t>
            </a:r>
            <a:br>
              <a:rPr lang="en-US" dirty="0"/>
            </a:br>
            <a:r>
              <a:rPr lang="en-US" dirty="0"/>
              <a:t>The resulting images are shown here for the XY, XZ, and YZ slices.</a:t>
            </a:r>
            <a:br>
              <a:rPr lang="en-US" dirty="0"/>
            </a:br>
            <a:r>
              <a:rPr lang="en-US" dirty="0"/>
              <a:t>By combining five angular views, speckle noise is reduced and contrast improves significantly.”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49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shows the reconstructed image from the single plane-wave transmission.</a:t>
            </a:r>
            <a:br>
              <a:rPr lang="en-US" dirty="0"/>
            </a:br>
            <a:r>
              <a:rPr lang="en-US" dirty="0"/>
              <a:t>It looks more uniform but less detailed compared to the compounded result.</a:t>
            </a:r>
            <a:br>
              <a:rPr lang="en-US" dirty="0"/>
            </a:br>
            <a:r>
              <a:rPr lang="en-US" dirty="0"/>
              <a:t>The field of view is narrower and lateral resolution is slightly degraded.”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212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4BDE-3F80-1906-0DA1-9FE63F6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A588DE-D27C-7845-C05F-250ABFE26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46EB30-F132-A10E-9AE0-73FAF3781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“Here, we can directly compare the two modes.</a:t>
            </a:r>
            <a:br>
              <a:rPr lang="en-US" dirty="0"/>
            </a:br>
            <a:r>
              <a:rPr lang="en-US" dirty="0"/>
              <a:t>The compound plane-wave image has higher signal-to-noise ratio and better structure visibility, while the single plane wave provides faster imaging but poorer contrast.</a:t>
            </a:r>
            <a:br>
              <a:rPr lang="en-US" dirty="0"/>
            </a:br>
            <a:r>
              <a:rPr lang="en-US" dirty="0"/>
              <a:t>In other words, compounding improves image quality at the cost of frame rate.”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dirty="0"/>
              <a:t>Each steered plane wave provides a slightly different view of the tissue.</a:t>
            </a:r>
            <a:br>
              <a:rPr lang="en-US" dirty="0"/>
            </a:br>
            <a:r>
              <a:rPr lang="en-US" dirty="0"/>
              <a:t>When we sum them coherently, random noise and side lobes cancel out, while true scatterers reinforce each other.</a:t>
            </a:r>
            <a:br>
              <a:rPr lang="en-US" dirty="0"/>
            </a:br>
            <a:r>
              <a:rPr lang="en-US" dirty="0"/>
              <a:t>This is why the compounded image appears clearer and sharper.”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dirty="0"/>
              <a:t>“In the single flash case, the transmission is defined as coming from a </a:t>
            </a:r>
            <a:r>
              <a:rPr lang="en-US" i="1" dirty="0"/>
              <a:t>virtual source</a:t>
            </a:r>
            <a:r>
              <a:rPr lang="en-US" dirty="0"/>
              <a:t> at the negative z-axis — above the transducer.</a:t>
            </a:r>
            <a:br>
              <a:rPr lang="en-US" dirty="0"/>
            </a:br>
            <a:r>
              <a:rPr lang="en-US" dirty="0"/>
              <a:t>This mathematical definition creates a flat wavefront that travels along +z through the cone region.</a:t>
            </a:r>
            <a:br>
              <a:rPr lang="en-US" dirty="0"/>
            </a:br>
            <a:r>
              <a:rPr lang="en-US" dirty="0"/>
              <a:t>There’s no focusing curvature or tilt — all elements transmit in phase.”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39703-1CA0-32DE-2F56-9B57C4128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510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C4AA-C1D0-315B-577F-47C85A1E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2DC55B-2F9D-F083-2754-BF47D626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4B1E27-A249-415C-F668-483776643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4A8AD-4E0A-CD03-A17C-03391A39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E1F421-FE07-E5B4-5312-85FEBB2A912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E68CA9-9B2B-03F9-4514-39279206F972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A81DA4-0FEC-E7F4-3B02-45D60C45B0F1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D646E-BC8D-DD76-98E0-58DED90EADAD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C7E81E5-E75A-FADA-615D-AC644DA4C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F0EE90-3C1B-1EFF-D839-1134D7B1B37A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2E6AF03-7687-C663-74EE-F7E42F8CD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87EE6DE-FD11-1479-B3CA-BEB79849EB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961" y="1764221"/>
            <a:ext cx="11880075" cy="1907442"/>
          </a:xfrm>
        </p:spPr>
        <p:txBody>
          <a:bodyPr anchor="ctr">
            <a:normAutofit/>
          </a:bodyPr>
          <a:lstStyle>
            <a:lvl1pPr algn="ctr">
              <a:defRPr sz="3200" b="1"/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8510" y="4105917"/>
            <a:ext cx="9144000" cy="1455014"/>
          </a:xfrm>
        </p:spPr>
        <p:txBody>
          <a:bodyPr anchor="ctr"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B02FD2-893F-7841-B42B-0EB73166CFA6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98E10-C658-DA56-8FD8-92EFA0C81D4A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latin typeface="Helvetica" panose="020B0604020202020204" pitchFamily="34" charset="0"/>
                <a:cs typeface="Helvetica" panose="020B0604020202020204" pitchFamily="34" charset="0"/>
              </a:rPr>
              <a:t>Dakyoung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FC27A8-C397-A15F-BCDE-D29293B4683F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23D89F-2EAB-1D52-E95E-7A89B3EDEFDE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DAE7F0-EBAF-860B-C5DC-9E7D9C069D74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68C2E8-412E-B1B6-2F30-D162CC7279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D9E05-F001-502A-EBAA-D650F80B80E5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BA937A-06C6-32C5-0BA2-C4BEB297F3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9DA0DC-B105-6186-031D-4E8E582A23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7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7893E-9C1C-0686-801E-9099FAE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25" y="1764222"/>
            <a:ext cx="11568149" cy="19093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88298-22D7-89D1-4AA4-27A49232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02" y="4134231"/>
            <a:ext cx="9144000" cy="112356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7FB8C-A608-1FC1-3E8C-EFB9103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6BAE7-4FCF-0673-47FA-C1B587E8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CF77B-8275-497B-1A35-C6DCCCB8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F74485FE-4C56-9088-AC8C-18B204E7CA15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86DF63-56CA-4274-BF0E-B66D550F2643}" type="datetimeFigureOut">
              <a:rPr lang="ko-KR" altLang="en-US" smtClean="0"/>
              <a:pPr/>
              <a:t>2025-11-11</a:t>
            </a:fld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00DE202B-F9ED-6BCC-A60A-1AFF2073B8D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26CB42-36F8-48B2-A0B8-3701159B337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AD10F5-12D2-9076-B95F-0F771F95E35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6A23D-B650-6EF4-BB29-F997B42DE58C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b="1" dirty="0">
              <a:solidFill>
                <a:srgbClr val="8B0029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6F794F-BF96-646D-8DBE-853C34AA0AA8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D08D46-E547-D2EC-98AC-CD0BFBA8A44A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215C4-D8E6-A1A0-0289-B0C197D6F17B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F9FA718-88FC-3001-A2E3-38F4A3B34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193BA-2115-653C-6217-C98B1252D377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2730CDB-E8F5-7804-D3CC-75A8FBAFC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E0BF2FC-3DD4-B774-063B-987FED0945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748BA-B4B2-FEC7-D61F-D5AB5E6E8D0B}"/>
              </a:ext>
            </a:extLst>
          </p:cNvPr>
          <p:cNvSpPr/>
          <p:nvPr/>
        </p:nvSpPr>
        <p:spPr>
          <a:xfrm>
            <a:off x="1669905" y="985434"/>
            <a:ext cx="8789577" cy="5154342"/>
          </a:xfrm>
          <a:prstGeom prst="rect">
            <a:avLst/>
          </a:prstGeom>
          <a:solidFill>
            <a:srgbClr val="8B0029">
              <a:alpha val="23137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44F15-D09F-1AC2-B2A4-E98E2644D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4" y="158817"/>
            <a:ext cx="8996449" cy="43495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3D8F5-5603-D971-5E05-E9E78F80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264" y="1701580"/>
            <a:ext cx="8332967" cy="417098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F4467-C115-26B5-C6B5-03591582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25BDF0-775E-D8D0-D4FF-E60C381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55421C-4611-4ED5-AEC6-5A097A53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3F6165-4E33-11E0-45CF-C4EA543B12A4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EDE57B-DFD4-D580-610C-D1076E7EBFE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9D2C930-DDCA-DD18-2B5A-509572AF3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5804A56-593F-FA43-F235-D2F25C8866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3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C7E9C-7C2A-5344-DCCE-6800BCC30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58817"/>
            <a:ext cx="8996449" cy="44721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9446F3-1DBF-B091-5EAB-472D403F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2C201D-DDE2-2EC0-32BA-79C3289D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F81227-4A7B-A3F5-2BD6-345286D8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610EBD-7E9E-316F-B7AF-0C96F1105BE7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EEFE88-6A46-55A4-F0B5-B5A3B43979F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424462-9410-7714-9A85-C44F89EC3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E4D42F-BF0A-B822-2261-1A0574252A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F8BC37-2026-4182-1CF7-3A74FC5368CB}"/>
              </a:ext>
            </a:extLst>
          </p:cNvPr>
          <p:cNvSpPr/>
          <p:nvPr userDrawn="1"/>
        </p:nvSpPr>
        <p:spPr>
          <a:xfrm>
            <a:off x="2028595" y="847408"/>
            <a:ext cx="525785" cy="603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BB01B-0669-C413-756C-D370920C1510}"/>
              </a:ext>
            </a:extLst>
          </p:cNvPr>
          <p:cNvSpPr/>
          <p:nvPr userDrawn="1"/>
        </p:nvSpPr>
        <p:spPr>
          <a:xfrm>
            <a:off x="2308380" y="1185238"/>
            <a:ext cx="167831" cy="17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8D4FFF-A828-DD48-FEA5-35A1E764A7E4}"/>
              </a:ext>
            </a:extLst>
          </p:cNvPr>
          <p:cNvSpPr/>
          <p:nvPr userDrawn="1"/>
        </p:nvSpPr>
        <p:spPr>
          <a:xfrm>
            <a:off x="3139807" y="1137229"/>
            <a:ext cx="374574" cy="190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B43F7A-E7AD-F729-EB43-7DD082B396E3}"/>
              </a:ext>
            </a:extLst>
          </p:cNvPr>
          <p:cNvSpPr/>
          <p:nvPr userDrawn="1"/>
        </p:nvSpPr>
        <p:spPr>
          <a:xfrm>
            <a:off x="1597776" y="954306"/>
            <a:ext cx="9011182" cy="535813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2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9248B-CEAF-9D66-037D-1103203E5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74141"/>
            <a:ext cx="9756025" cy="42715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F95C16-73B3-0C7E-6844-282030341397}"/>
              </a:ext>
            </a:extLst>
          </p:cNvPr>
          <p:cNvSpPr/>
          <p:nvPr userDrawn="1"/>
        </p:nvSpPr>
        <p:spPr>
          <a:xfrm>
            <a:off x="1669907" y="1117674"/>
            <a:ext cx="8852186" cy="309131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C540A-1758-17DE-E14F-C27724EF423E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FFEFFE-1C37-C12C-5D9C-4F0AE8E0A47C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A30036C-F7DF-E54D-7D7C-5BA094CD8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D1FDF0-039C-AC32-E094-21B3397E734F}"/>
              </a:ext>
            </a:extLst>
          </p:cNvPr>
          <p:cNvGrpSpPr/>
          <p:nvPr userDrawn="1"/>
        </p:nvGrpSpPr>
        <p:grpSpPr>
          <a:xfrm>
            <a:off x="1732518" y="4430402"/>
            <a:ext cx="8699508" cy="1902852"/>
            <a:chOff x="6818529" y="4142681"/>
            <a:chExt cx="4029984" cy="168949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1D5E76C-C027-733E-0396-6CE1B4D91203}"/>
                </a:ext>
              </a:extLst>
            </p:cNvPr>
            <p:cNvSpPr/>
            <p:nvPr/>
          </p:nvSpPr>
          <p:spPr>
            <a:xfrm>
              <a:off x="6818529" y="4142681"/>
              <a:ext cx="4029984" cy="1689496"/>
            </a:xfrm>
            <a:prstGeom prst="rect">
              <a:avLst/>
            </a:prstGeom>
            <a:solidFill>
              <a:srgbClr val="8B0029">
                <a:alpha val="23137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E571B6-64B2-7150-4953-8B5F2F11D5ED}"/>
                </a:ext>
              </a:extLst>
            </p:cNvPr>
            <p:cNvSpPr txBox="1"/>
            <p:nvPr/>
          </p:nvSpPr>
          <p:spPr>
            <a:xfrm>
              <a:off x="7528140" y="4363121"/>
              <a:ext cx="2698808" cy="32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</a:t>
              </a:r>
              <a:endParaRPr lang="ko-KR" altLang="en-US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D6041A-DC45-3C43-C774-36FC01D09BE2}"/>
                </a:ext>
              </a:extLst>
            </p:cNvPr>
            <p:cNvSpPr txBox="1"/>
            <p:nvPr/>
          </p:nvSpPr>
          <p:spPr>
            <a:xfrm>
              <a:off x="6934506" y="4732453"/>
              <a:ext cx="3810748" cy="956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 furnace with the </a:t>
              </a:r>
              <a:r>
                <a:rPr lang="en-US" altLang="ko-KR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heating tape maintained at a temperature of 130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Narrow zone furnace was heated up to 600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Cycles performed at 10 mm/h repeated 24 times for purification, which was followed by a cycle at 5 mm/h to promote crystal growth</a:t>
              </a: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8C52ADF6-CAC3-E259-DC8B-2177D9971F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6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B7583-808E-C12B-EDD6-DC92E07A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F5B99-B059-FAC9-FCBA-45EFD049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85CB50-0065-7D32-EB35-52132DA8C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466EE-8A1F-68FF-C4AA-5CB2BD5A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36B9B-6681-C6B5-A077-8BE60810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2BEB8E-B7E1-A563-85EB-8F49C953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6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1E4E7-59AC-64BF-272C-A4A9C71D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336C4-62F0-27BE-3DC1-FD60ABEE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EEBF1C-33B7-F15F-193C-BEB040A2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F8444-9A1B-F2A2-DF8A-CA7F4C8AA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700A6B-6A02-F7F2-5387-1D24E4720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227A5E-E7DF-697D-4A8C-11BC7B46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0A462-2619-995A-D4F1-F8E528CA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A69F1-4348-380E-A6A8-2B2D6AA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21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8167A4-1192-8090-F33B-E1AE4CB1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0D8A1C-6CBF-0CEE-D53D-04003CE1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0E98D-EFF5-DD16-9542-6E41F6DA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23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75B28-69AF-D3B7-0281-1D838FB2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1AB02-DB99-D738-C65F-A8A84250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B1F5D-EB7D-8942-4CED-CA4A14E26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CEB9ED-3317-86A5-33B5-55DDAA44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75AB0F-9B1F-D0A0-B704-1382C11C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80AC84-C5C9-F1F9-00B1-17B85928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62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DF326-6EB0-81A4-4277-6D672F66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9CE705-1E48-5DA9-1050-A06298FA9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B362-70FA-CF44-D37D-7F0798628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AD7F97-DB33-AD21-8219-6BB1A18F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A4DC18-B6CD-CB82-C16F-1F88905A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2A53C3-33B8-9E30-002C-8668D861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623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94B9F-2C7C-FDF3-FDCD-5F1940E5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9CE338-16AE-5292-BFD9-983F5530C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9A1AA-0719-1642-9261-282096B9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FE863-A2DE-3940-6392-FF1020D9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F3BD1-9099-433B-2914-96B00D65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63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A28BCE-9BF1-7124-A4AB-B0F19F5F7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4EA222-3D04-9AC9-19AC-FF3EA61A8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31194-1DC6-3AA6-62F5-E8D87B82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B7D06-6F94-EAE2-A2BD-E0BBCFC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90688-B58F-6A80-5B9E-32C7BB1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1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4A7C-20BE-4D15-928D-F559733A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3C066-E124-4078-A24A-B672329AA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5C160-1B21-44C6-BAE0-B6269F04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962-81BF-4E3E-82A7-0FC6ACB74D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8FB6E-D596-4EC2-8D95-084A94F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36E9E-A1CA-4B36-B9F6-2149AAB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0C45-F3F3-404A-A084-84E0FACA2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00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5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B9AE5-A3D0-E552-6A41-8B70678D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9EBEC-7A00-F3FC-01D6-F62BC655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B356-AB5E-BA0F-8B52-B8691468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8D8B9-FB9F-6FA5-AFB8-535DB299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B51E8-67E8-CDA4-5548-59892D7F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590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A1736-AA4B-7286-FEAF-422CB58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E6AC1-34CC-F477-EB0F-713EF5435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3889D7-8651-494A-8FF9-E1A341DEF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C639FD-F7BB-8623-86E6-818C0A94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9952-28DB-4A3F-69A1-C362CD25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D9603D-F8E3-2DF8-E29C-BA738FC2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905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42F1B-9E59-B01C-B174-E2350E3B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3075E-49BF-828B-1EAF-0F35F496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828E90-3940-F72C-D278-F98675C56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887B85-11F6-619D-73CB-737E8ECD0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5A516B-608D-7D76-156E-E1DFFF7CF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327DA-BC33-2A69-CC11-516D9CC0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79C88C-B2C4-DF67-7D74-8626A4B0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EE211C-9197-5F19-3527-CA2817C7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8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32339-A9E5-F5AE-F8A3-B443F8E4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958DD3-016F-A42F-640A-4327948E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864188-34E7-5774-F2B0-E431F58E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4E77CF-B4E2-CA90-8EC3-853FCC67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475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7D0F0-70DE-7888-C9B8-E2E0F54A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ED78D9-5092-39ED-971D-ABADA98B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1F49B-291F-26C5-19EE-EF16BF8A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87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F9A5C-0A87-B53E-E433-3508DD7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B4817-92F7-7163-B6D2-8BE53808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1157E7-A691-7A5C-5472-C7C0BED5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BDCBB-8E5F-79A6-E335-6BE3317A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22F05-3D91-D155-C2F7-995AD989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C520C-D938-B68A-153C-522997D0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4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71F33-088B-98F6-0B6E-8DC5A338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7BA80-8158-8712-F375-6F1A31242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0CBEAD-FEC5-FB22-111B-9E3AC113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C17AA6-5AF2-5A0A-FE5A-E3433527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A6625C-996C-A0C0-02B8-0DEC37F7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F2B8C7-2435-2500-CC64-2F46BA92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62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155F1-8440-8C74-907A-23E864A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648E61-16C1-805A-37DE-65E7BE883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7042B-223F-1F63-7DA7-2BEA2084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35EAC-258B-D6FA-AE42-C5C777D9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E86B5-8C85-EFA6-BEE0-B6510155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496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E3D97-AB37-C70A-B385-1FFFF9E01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2FA65-120A-309D-63FC-BDA32A84D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42AF0-0FE4-C851-5971-2702C6D4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E8E1-9127-8E39-9BCF-EAEFCA17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D5348-FF56-63E8-125F-7F376BE1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42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A27237-957F-8C90-E8E2-9623B556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C0954-35CB-4349-563B-B22156697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A8A1-8C85-6B52-D74D-47D640B0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6DF63-56CA-4274-BF0E-B66D550F264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F9D929-8029-F7BE-839B-AB7B7624C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1DC6B-0444-91E6-F219-2ACAE9769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0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62" r:id="rId4"/>
    <p:sldLayoutId id="2147483654" r:id="rId5"/>
    <p:sldLayoutId id="2147483673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9E10E8-13A2-4246-D006-14F17454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609FC5-7989-CBAD-E35D-3D141084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51472-C25A-DA5B-C65A-364CE4C39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5C4BC-BFC1-4EB7-885D-055E5748539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76A9F-55CA-1CAB-1AF6-B3EEBDBE6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A4E422-F053-383C-9AA8-29429AF85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64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30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17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10" Type="http://schemas.openxmlformats.org/officeDocument/2006/relationships/image" Target="../media/image27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Relationship Id="rId14" Type="http://schemas.openxmlformats.org/officeDocument/2006/relationships/image" Target="../media/image3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30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17" Type="http://schemas.openxmlformats.org/officeDocument/2006/relationships/image" Target="../media/image34.jp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10" Type="http://schemas.openxmlformats.org/officeDocument/2006/relationships/image" Target="../media/image27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Relationship Id="rId14" Type="http://schemas.openxmlformats.org/officeDocument/2006/relationships/image" Target="../media/image3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42.jpg"/><Relationship Id="rId7" Type="http://schemas.openxmlformats.org/officeDocument/2006/relationships/image" Target="../media/image3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BF39-253E-3168-6D52-7982A900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2477C-B0DB-4ACF-8DFF-DFFE0769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469" y="3715328"/>
            <a:ext cx="7066349" cy="655546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sz="2000" dirty="0">
                <a:latin typeface="+mn-lt"/>
              </a:rPr>
              <a:t>2025/11/11 – lab meeting </a:t>
            </a:r>
            <a:br>
              <a:rPr lang="en-US" altLang="ko-KR" sz="2000" dirty="0">
                <a:latin typeface="+mn-lt"/>
              </a:rPr>
            </a:br>
            <a:r>
              <a:rPr lang="en-US" altLang="ko-KR" sz="2000" dirty="0">
                <a:latin typeface="+mn-lt"/>
              </a:rPr>
              <a:t>(Capstone Project Progress)</a:t>
            </a:r>
            <a:endParaRPr lang="ko-KR" altLang="en-US" sz="2000" dirty="0">
              <a:latin typeface="+mn-lt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B60B557-DBAC-A3D7-4C95-5E6AE4008523}"/>
              </a:ext>
            </a:extLst>
          </p:cNvPr>
          <p:cNvSpPr txBox="1">
            <a:spLocks/>
          </p:cNvSpPr>
          <p:nvPr/>
        </p:nvSpPr>
        <p:spPr>
          <a:xfrm>
            <a:off x="2467188" y="1700642"/>
            <a:ext cx="7349639" cy="190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000" b="1" dirty="0"/>
              <a:t>Simulation of 2D Ultrasound Transducer (8×8) Using </a:t>
            </a:r>
            <a:r>
              <a:rPr lang="en-US" altLang="ko-KR" sz="3000" b="1" dirty="0" err="1"/>
              <a:t>Verasonics</a:t>
            </a:r>
            <a:endParaRPr lang="ko-KR" altLang="en-US" sz="3000" b="1" dirty="0">
              <a:latin typeface="+mn-lt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0F9132-AE56-4F93-3D73-5A2BE3E7FD9A}"/>
              </a:ext>
            </a:extLst>
          </p:cNvPr>
          <p:cNvSpPr txBox="1">
            <a:spLocks/>
          </p:cNvSpPr>
          <p:nvPr/>
        </p:nvSpPr>
        <p:spPr>
          <a:xfrm>
            <a:off x="5776432" y="5413654"/>
            <a:ext cx="7066349" cy="65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latin typeface="+mn-lt"/>
              </a:rPr>
              <a:t>Deoliana Matilde</a:t>
            </a:r>
            <a:endParaRPr lang="ko-KR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919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457B-F237-0169-0F5C-C0DF8BE9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A189-E60F-09CA-1FB5-23FE2450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 </a:t>
            </a:r>
            <a:r>
              <a:rPr lang="en-US" altLang="ko-KR" dirty="0"/>
              <a:t>Objectives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95A3E-38DC-A619-5EC3-47227F3D5684}"/>
              </a:ext>
            </a:extLst>
          </p:cNvPr>
          <p:cNvSpPr txBox="1"/>
          <p:nvPr/>
        </p:nvSpPr>
        <p:spPr>
          <a:xfrm>
            <a:off x="1819809" y="1310471"/>
            <a:ext cx="855238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Simulate 2D (8×8) transducer geometry in </a:t>
            </a:r>
            <a:r>
              <a:rPr lang="en-US" altLang="ko-KR" dirty="0" err="1"/>
              <a:t>Verasonics</a:t>
            </a:r>
            <a:r>
              <a:rPr lang="en-US" altLang="ko-KR" dirty="0"/>
              <a:t> (simulation-only mode).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Study beamforming behavior: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Plane-wave transmissions with multiple steering angles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Single plane wave </a:t>
            </a:r>
          </a:p>
        </p:txBody>
      </p:sp>
    </p:spTree>
    <p:extLst>
      <p:ext uri="{BB962C8B-B14F-4D97-AF65-F5344CB8AC3E}">
        <p14:creationId xmlns:p14="http://schemas.microsoft.com/office/powerpoint/2010/main" val="68790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1524-1AA7-CB9A-4EC3-5B7EF63C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C5DCC-3226-7967-3408-2E1622178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832" y="2035106"/>
            <a:ext cx="8826335" cy="26181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994604-77CB-E2D0-E904-66539BB70344}"/>
              </a:ext>
            </a:extLst>
          </p:cNvPr>
          <p:cNvSpPr txBox="1"/>
          <p:nvPr/>
        </p:nvSpPr>
        <p:spPr>
          <a:xfrm>
            <a:off x="1682832" y="1328468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 Flow:</a:t>
            </a:r>
          </a:p>
        </p:txBody>
      </p:sp>
    </p:spTree>
    <p:extLst>
      <p:ext uri="{BB962C8B-B14F-4D97-AF65-F5344CB8AC3E}">
        <p14:creationId xmlns:p14="http://schemas.microsoft.com/office/powerpoint/2010/main" val="379606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DD54-91E8-12E9-9153-9802FABD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AB146-8938-C3FE-BAF0-F79EEB58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EB111-C59F-208B-A3D0-313F710B1A90}"/>
              </a:ext>
            </a:extLst>
          </p:cNvPr>
          <p:cNvSpPr txBox="1"/>
          <p:nvPr/>
        </p:nvSpPr>
        <p:spPr>
          <a:xfrm>
            <a:off x="1632553" y="1356880"/>
            <a:ext cx="593760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Transducer</a:t>
            </a:r>
            <a:r>
              <a:rPr lang="en-US" altLang="ko-KR" sz="1600" dirty="0"/>
              <a:t>		: 8x8 matrix, (64 total elements)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Center frequency</a:t>
            </a:r>
            <a:r>
              <a:rPr lang="en-US" altLang="ko-KR" sz="1600" dirty="0"/>
              <a:t>	: 11MHz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Pitch</a:t>
            </a:r>
            <a:r>
              <a:rPr lang="en-US" altLang="ko-KR" sz="1600" dirty="0"/>
              <a:t>  			: </a:t>
            </a:r>
            <a:r>
              <a:rPr lang="el-GR" altLang="ko-KR" sz="1600" dirty="0"/>
              <a:t>300 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Kerf (gap)		:</a:t>
            </a:r>
            <a:r>
              <a:rPr lang="en-US" altLang="ko-KR" sz="1600" dirty="0"/>
              <a:t> 90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Element width/height	:</a:t>
            </a:r>
            <a:r>
              <a:rPr lang="en-US" altLang="ko-KR" sz="1600" dirty="0"/>
              <a:t> 210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Speed of sound of soft tissue : 1540m/s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29E0B-2D1D-69C6-F7B4-62BB437AE936}"/>
              </a:ext>
            </a:extLst>
          </p:cNvPr>
          <p:cNvSpPr txBox="1"/>
          <p:nvPr/>
        </p:nvSpPr>
        <p:spPr>
          <a:xfrm>
            <a:off x="1614081" y="1080469"/>
            <a:ext cx="436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Transducer Geometry and Parameter:</a:t>
            </a:r>
            <a:endParaRPr lang="ko-KR" altLang="en-US" dirty="0"/>
          </a:p>
        </p:txBody>
      </p:sp>
      <p:pic>
        <p:nvPicPr>
          <p:cNvPr id="5" name="그림 4" descr="스크린샷, 사각형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0A1470-65EC-0BAA-DA87-8E48B753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4319" r="11252" b="4985"/>
          <a:stretch>
            <a:fillRect/>
          </a:stretch>
        </p:blipFill>
        <p:spPr>
          <a:xfrm>
            <a:off x="6333751" y="1984019"/>
            <a:ext cx="5636575" cy="47151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15F09D-C909-7EF4-2532-997983B99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280" y="3925908"/>
            <a:ext cx="4137344" cy="2122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1C9A6-A5F8-379A-19CE-7F28A50BF7FF}"/>
              </a:ext>
            </a:extLst>
          </p:cNvPr>
          <p:cNvSpPr txBox="1"/>
          <p:nvPr/>
        </p:nvSpPr>
        <p:spPr>
          <a:xfrm>
            <a:off x="8467725" y="1356881"/>
            <a:ext cx="1690224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Element Mapping </a:t>
            </a:r>
          </a:p>
        </p:txBody>
      </p:sp>
    </p:spTree>
    <p:extLst>
      <p:ext uri="{BB962C8B-B14F-4D97-AF65-F5344CB8AC3E}">
        <p14:creationId xmlns:p14="http://schemas.microsoft.com/office/powerpoint/2010/main" val="108289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774D-67C2-372F-4B3C-5B34A937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F1CAD-7BFC-FA0F-C602-20EE6F87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 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5BCC61B-F01D-9E20-99C5-E65FDF99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0" r="3194"/>
          <a:stretch>
            <a:fillRect/>
          </a:stretch>
        </p:blipFill>
        <p:spPr>
          <a:xfrm>
            <a:off x="1604419" y="854496"/>
            <a:ext cx="2508178" cy="26233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EA47911-1306-EDD4-A88A-296605374E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94" b="1347"/>
          <a:stretch>
            <a:fillRect/>
          </a:stretch>
        </p:blipFill>
        <p:spPr>
          <a:xfrm>
            <a:off x="4331501" y="854496"/>
            <a:ext cx="2636543" cy="26233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B76F093-6238-C679-D43C-F64E7B389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38" y="883658"/>
            <a:ext cx="2723332" cy="262339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F319492-3E29-887A-7F05-33474BFB3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126" y="3784677"/>
            <a:ext cx="2428471" cy="250674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6188916-5404-4289-1271-33E4703D7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501" y="3784677"/>
            <a:ext cx="2780261" cy="250674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9E9F845-E0E1-ADFA-3C0B-77CDB7C542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1923" y="3784677"/>
            <a:ext cx="2509226" cy="250674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9BFEC68-F9D9-9FA4-0592-A20097C930C2}"/>
              </a:ext>
            </a:extLst>
          </p:cNvPr>
          <p:cNvSpPr txBox="1"/>
          <p:nvPr/>
        </p:nvSpPr>
        <p:spPr>
          <a:xfrm>
            <a:off x="5238831" y="2955252"/>
            <a:ext cx="143906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rgbClr val="FF0000"/>
                </a:solidFill>
              </a:rPr>
              <a:t>Pdata</a:t>
            </a:r>
            <a:r>
              <a:rPr lang="en-US" altLang="ko-KR" sz="1000" dirty="0">
                <a:solidFill>
                  <a:srgbClr val="FF0000"/>
                </a:solidFill>
              </a:rPr>
              <a:t> – Cone Region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FOV – 20 degree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F737D5-1EC0-784C-CDB3-8A1D0927C0B7}"/>
              </a:ext>
            </a:extLst>
          </p:cNvPr>
          <p:cNvSpPr txBox="1"/>
          <p:nvPr/>
        </p:nvSpPr>
        <p:spPr>
          <a:xfrm>
            <a:off x="2178831" y="2955252"/>
            <a:ext cx="143906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Homogeneous Media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Points Scattered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614E6-77E4-DC28-C7C9-A123232733D6}"/>
              </a:ext>
            </a:extLst>
          </p:cNvPr>
          <p:cNvSpPr txBox="1"/>
          <p:nvPr/>
        </p:nvSpPr>
        <p:spPr>
          <a:xfrm>
            <a:off x="8173944" y="3090284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XZ plane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5DFFEF-0EAA-E230-F79F-5F3565F5031B}"/>
              </a:ext>
            </a:extLst>
          </p:cNvPr>
          <p:cNvSpPr txBox="1"/>
          <p:nvPr/>
        </p:nvSpPr>
        <p:spPr>
          <a:xfrm>
            <a:off x="2313472" y="6003504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YZ plane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B64AB-0102-DFE7-3475-471198494F38}"/>
              </a:ext>
            </a:extLst>
          </p:cNvPr>
          <p:cNvSpPr txBox="1"/>
          <p:nvPr/>
        </p:nvSpPr>
        <p:spPr>
          <a:xfrm>
            <a:off x="5138253" y="6003503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XY plane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075890-A87D-2416-EB79-954100139DE4}"/>
              </a:ext>
            </a:extLst>
          </p:cNvPr>
          <p:cNvSpPr txBox="1"/>
          <p:nvPr/>
        </p:nvSpPr>
        <p:spPr>
          <a:xfrm>
            <a:off x="7888829" y="5926440"/>
            <a:ext cx="200929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Imaging Dept along Z-direction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E51AAA-E278-5EEA-71F9-19C2CFBD1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0308" y="1543676"/>
            <a:ext cx="7611083" cy="4045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EF1892-F0E2-5B9B-F51C-3C4E4FA58A39}"/>
              </a:ext>
            </a:extLst>
          </p:cNvPr>
          <p:cNvSpPr txBox="1"/>
          <p:nvPr/>
        </p:nvSpPr>
        <p:spPr>
          <a:xfrm>
            <a:off x="4630339" y="1597048"/>
            <a:ext cx="3543606" cy="369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Snippet Code of </a:t>
            </a:r>
            <a:r>
              <a:rPr lang="en-US" altLang="ko-KR" dirty="0" err="1"/>
              <a:t>PData</a:t>
            </a:r>
            <a:r>
              <a:rPr lang="en-US" altLang="ko-KR" dirty="0"/>
              <a:t> Region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87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64E8-F582-B8AE-F5E8-9EDB8FD1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3852F-A17E-BCFA-1FD2-9190C3BE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 – Media &amp; </a:t>
            </a:r>
            <a:r>
              <a:rPr lang="en-US" altLang="ko-KR" dirty="0" err="1"/>
              <a:t>PData</a:t>
            </a:r>
            <a:r>
              <a:rPr lang="en-US" altLang="ko-KR" dirty="0"/>
              <a:t> Geometry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548F6BA-41B3-F66F-E390-15314BB9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0" r="3194"/>
          <a:stretch>
            <a:fillRect/>
          </a:stretch>
        </p:blipFill>
        <p:spPr>
          <a:xfrm>
            <a:off x="1604419" y="854496"/>
            <a:ext cx="2508178" cy="26233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54363F7-95F8-6159-B886-F83F13C4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94" b="1347"/>
          <a:stretch>
            <a:fillRect/>
          </a:stretch>
        </p:blipFill>
        <p:spPr>
          <a:xfrm>
            <a:off x="4331501" y="854496"/>
            <a:ext cx="2636543" cy="26233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83E95C7-4D05-B30A-5CC7-A36E105F4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838" y="883658"/>
            <a:ext cx="2723332" cy="262339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A82B51B-BB3F-C796-DC5A-B6ADEA679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126" y="3784677"/>
            <a:ext cx="2428471" cy="250674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178D6F1-EC8E-FA33-13DC-B733DD39F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501" y="3784677"/>
            <a:ext cx="2780261" cy="250674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497A512-06AF-AC71-04D4-B5599F692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1923" y="3784677"/>
            <a:ext cx="2509226" cy="250674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EE25E62-6BE9-B10F-3773-1AC771D0C31E}"/>
              </a:ext>
            </a:extLst>
          </p:cNvPr>
          <p:cNvSpPr txBox="1"/>
          <p:nvPr/>
        </p:nvSpPr>
        <p:spPr>
          <a:xfrm>
            <a:off x="5238831" y="2955252"/>
            <a:ext cx="143906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solidFill>
                  <a:srgbClr val="FF0000"/>
                </a:solidFill>
              </a:rPr>
              <a:t>Pdata</a:t>
            </a:r>
            <a:r>
              <a:rPr lang="en-US" altLang="ko-KR" sz="1000" dirty="0">
                <a:solidFill>
                  <a:srgbClr val="FF0000"/>
                </a:solidFill>
              </a:rPr>
              <a:t> – Cone Region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FOV – 20 degree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104B73-1B84-4B23-4C0D-117F2EBB82F7}"/>
              </a:ext>
            </a:extLst>
          </p:cNvPr>
          <p:cNvSpPr txBox="1"/>
          <p:nvPr/>
        </p:nvSpPr>
        <p:spPr>
          <a:xfrm>
            <a:off x="2178831" y="2955252"/>
            <a:ext cx="143906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Homogeneous Media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Points Scattered 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B9BEA-AB9E-42FE-7889-027B120ABA96}"/>
              </a:ext>
            </a:extLst>
          </p:cNvPr>
          <p:cNvSpPr txBox="1"/>
          <p:nvPr/>
        </p:nvSpPr>
        <p:spPr>
          <a:xfrm>
            <a:off x="8173944" y="3090284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XZ plane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06043C-6BB6-7A07-7FFE-24C2D519B311}"/>
              </a:ext>
            </a:extLst>
          </p:cNvPr>
          <p:cNvSpPr txBox="1"/>
          <p:nvPr/>
        </p:nvSpPr>
        <p:spPr>
          <a:xfrm>
            <a:off x="2313472" y="6003504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YZ plane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FAF4DD-3BDF-7AAE-7DC0-A455D27A9232}"/>
              </a:ext>
            </a:extLst>
          </p:cNvPr>
          <p:cNvSpPr txBox="1"/>
          <p:nvPr/>
        </p:nvSpPr>
        <p:spPr>
          <a:xfrm>
            <a:off x="5138253" y="6003503"/>
            <a:ext cx="143906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Slice – XY plane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6B2B9F-BABC-7D4A-434E-41281E5FC423}"/>
              </a:ext>
            </a:extLst>
          </p:cNvPr>
          <p:cNvSpPr txBox="1"/>
          <p:nvPr/>
        </p:nvSpPr>
        <p:spPr>
          <a:xfrm>
            <a:off x="7888829" y="5926440"/>
            <a:ext cx="200929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Imaging Dept along Z-direction</a:t>
            </a:r>
          </a:p>
        </p:txBody>
      </p:sp>
    </p:spTree>
    <p:extLst>
      <p:ext uri="{BB962C8B-B14F-4D97-AF65-F5344CB8AC3E}">
        <p14:creationId xmlns:p14="http://schemas.microsoft.com/office/powerpoint/2010/main" val="25366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7C3A-8571-BE74-4C11-61858089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FD0A4-ED80-73FE-8A69-7E38B61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TX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DAF502-10BD-2D3A-9357-72A3194935EE}"/>
              </a:ext>
            </a:extLst>
          </p:cNvPr>
          <p:cNvSpPr txBox="1"/>
          <p:nvPr/>
        </p:nvSpPr>
        <p:spPr>
          <a:xfrm>
            <a:off x="1827523" y="1129682"/>
            <a:ext cx="7082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PW-STEERING ANGLE(-20 &lt;-&gt; +20 DEGREE/1 TX Per Frame)</a:t>
            </a:r>
          </a:p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C81902-5C89-A267-B812-C2A74C0ED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57" y="2935427"/>
            <a:ext cx="4120633" cy="31200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7B44C8-CDD8-2752-CB2D-A8D141983B02}"/>
              </a:ext>
            </a:extLst>
          </p:cNvPr>
          <p:cNvSpPr txBox="1"/>
          <p:nvPr/>
        </p:nvSpPr>
        <p:spPr>
          <a:xfrm>
            <a:off x="2088034" y="1554447"/>
            <a:ext cx="7970366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All </a:t>
            </a:r>
            <a:r>
              <a:rPr lang="en-US" altLang="ko-KR" b="1" dirty="0"/>
              <a:t>8×8 elements</a:t>
            </a:r>
            <a:r>
              <a:rPr lang="en-US" altLang="ko-KR" dirty="0"/>
              <a:t> fire simultaneously per transmit event.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The emitted </a:t>
            </a:r>
            <a:r>
              <a:rPr lang="en-US" altLang="ko-KR" b="1" dirty="0"/>
              <a:t>plane wave</a:t>
            </a:r>
            <a:r>
              <a:rPr lang="en-US" altLang="ko-KR" dirty="0"/>
              <a:t> is tilted by angle θₖ to steer the acoustic beam.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Five angles (−20°, −10°, 0°, +10°, +20°) create </a:t>
            </a:r>
            <a:r>
              <a:rPr lang="en-US" altLang="ko-KR" b="1" dirty="0"/>
              <a:t>five subframes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ACB4F6-2812-F7ED-F7A6-55E4C6423EE7}"/>
              </a:ext>
            </a:extLst>
          </p:cNvPr>
          <p:cNvSpPr txBox="1"/>
          <p:nvPr/>
        </p:nvSpPr>
        <p:spPr>
          <a:xfrm>
            <a:off x="8035637" y="5995494"/>
            <a:ext cx="1690255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TransmitWaveform</a:t>
            </a:r>
            <a:endParaRPr lang="ko-KR" altLang="en-US" sz="1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D5D7C68-7193-B9AA-5F1A-D833129FB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0" y="3082063"/>
            <a:ext cx="5570932" cy="265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60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CC042-3D5A-9B1B-B8AC-144C2E4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TX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7E5BE6-A1C1-6A24-1CC7-8A60A9DC6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244" y="2381161"/>
            <a:ext cx="3913095" cy="31242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60C3BF-B34F-2AD3-3350-1E0345903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41" y="3170313"/>
            <a:ext cx="5963482" cy="1971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A2364B-AE7D-8DDD-BF3C-DE9593043F8C}"/>
              </a:ext>
            </a:extLst>
          </p:cNvPr>
          <p:cNvSpPr txBox="1"/>
          <p:nvPr/>
        </p:nvSpPr>
        <p:spPr>
          <a:xfrm>
            <a:off x="1847850" y="1180832"/>
            <a:ext cx="7715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PW-No Steering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All Elements Transmit at the same time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Total 64 elements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Unfocus</a:t>
            </a:r>
            <a:r>
              <a:rPr lang="en-US" altLang="ko-KR" dirty="0"/>
              <a:t> transmission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DA875-8413-0984-7797-861A2775640F}"/>
              </a:ext>
            </a:extLst>
          </p:cNvPr>
          <p:cNvSpPr txBox="1"/>
          <p:nvPr/>
        </p:nvSpPr>
        <p:spPr>
          <a:xfrm>
            <a:off x="7989629" y="5505450"/>
            <a:ext cx="1690255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TransmitWaveform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887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F1136-6F3A-6C45-4647-9F7371D7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TX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9F567-9206-6D38-10A4-5C29D66E34CE}"/>
              </a:ext>
            </a:extLst>
          </p:cNvPr>
          <p:cNvSpPr txBox="1"/>
          <p:nvPr/>
        </p:nvSpPr>
        <p:spPr>
          <a:xfrm>
            <a:off x="1852461" y="1034472"/>
            <a:ext cx="292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&gt;&gt; </a:t>
            </a:r>
            <a:r>
              <a:rPr lang="en-US" altLang="ko-KR" dirty="0" err="1"/>
              <a:t>showEventAnalysisTool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36EAFD-CD2A-60F4-7EA8-1A8BF317E537}"/>
              </a:ext>
            </a:extLst>
          </p:cNvPr>
          <p:cNvGrpSpPr/>
          <p:nvPr/>
        </p:nvGrpSpPr>
        <p:grpSpPr>
          <a:xfrm>
            <a:off x="1047165" y="1403804"/>
            <a:ext cx="6294012" cy="3256594"/>
            <a:chOff x="1852460" y="1472424"/>
            <a:chExt cx="8487075" cy="471978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204D94F-D3D8-E6CD-B9EE-9060AEA60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2460" y="1472424"/>
              <a:ext cx="8487075" cy="471978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898599-96D8-D02B-1201-92AB6A78A809}"/>
                </a:ext>
              </a:extLst>
            </p:cNvPr>
            <p:cNvSpPr txBox="1"/>
            <p:nvPr/>
          </p:nvSpPr>
          <p:spPr>
            <a:xfrm>
              <a:off x="5754255" y="3057237"/>
              <a:ext cx="1059315" cy="33454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 err="1"/>
                <a:t>Apod</a:t>
              </a:r>
              <a:r>
                <a:rPr lang="en-US" altLang="ko-KR" sz="900" dirty="0"/>
                <a:t> active</a:t>
              </a:r>
              <a:endParaRPr lang="ko-KR" altLang="en-US" sz="900" dirty="0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760AD7F-CD4E-0D96-38CE-BABD34E1F4B3}"/>
                </a:ext>
              </a:extLst>
            </p:cNvPr>
            <p:cNvCxnSpPr/>
            <p:nvPr/>
          </p:nvCxnSpPr>
          <p:spPr>
            <a:xfrm>
              <a:off x="7832436" y="3832315"/>
              <a:ext cx="1745673" cy="5464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BA31ED1-B946-B8D1-A40B-008AECF135BD}"/>
                </a:ext>
              </a:extLst>
            </p:cNvPr>
            <p:cNvCxnSpPr/>
            <p:nvPr/>
          </p:nvCxnSpPr>
          <p:spPr>
            <a:xfrm>
              <a:off x="7869382" y="4451927"/>
              <a:ext cx="16717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0D44CA-77D8-F65D-5DAB-E2251F7DC6FB}"/>
                </a:ext>
              </a:extLst>
            </p:cNvPr>
            <p:cNvSpPr txBox="1"/>
            <p:nvPr/>
          </p:nvSpPr>
          <p:spPr>
            <a:xfrm>
              <a:off x="8166658" y="4212210"/>
              <a:ext cx="1398966" cy="31224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Tilt angle by 0° </a:t>
              </a:r>
              <a:endParaRPr lang="ko-KR" altLang="en-US" sz="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12DAA6-81F1-B012-7C8A-BA91178D933D}"/>
                </a:ext>
              </a:extLst>
            </p:cNvPr>
            <p:cNvSpPr txBox="1"/>
            <p:nvPr/>
          </p:nvSpPr>
          <p:spPr>
            <a:xfrm rot="1080818">
              <a:off x="8016969" y="3880543"/>
              <a:ext cx="1376605" cy="31224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Tilt angle by</a:t>
              </a:r>
              <a:r>
                <a:rPr lang="ko-KR" altLang="en-US" sz="800" dirty="0"/>
                <a:t>−</a:t>
              </a:r>
              <a:r>
                <a:rPr lang="en-US" altLang="ko-KR" sz="800" dirty="0"/>
                <a:t>10°</a:t>
              </a:r>
              <a:endParaRPr lang="ko-KR" altLang="en-US" sz="800" dirty="0"/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D147D14-44E8-C1E4-2091-898810AC3DC8}"/>
                </a:ext>
              </a:extLst>
            </p:cNvPr>
            <p:cNvCxnSpPr/>
            <p:nvPr/>
          </p:nvCxnSpPr>
          <p:spPr>
            <a:xfrm>
              <a:off x="8128000" y="3188042"/>
              <a:ext cx="1547959" cy="11907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D7394BB-4CF0-0F7B-7673-6B1291989565}"/>
              </a:ext>
            </a:extLst>
          </p:cNvPr>
          <p:cNvSpPr txBox="1"/>
          <p:nvPr/>
        </p:nvSpPr>
        <p:spPr>
          <a:xfrm rot="2223499">
            <a:off x="5884428" y="2864732"/>
            <a:ext cx="1020890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800" dirty="0"/>
              <a:t>Tilt angle by</a:t>
            </a:r>
            <a:r>
              <a:rPr lang="ko-KR" altLang="en-US" sz="800" dirty="0"/>
              <a:t>−</a:t>
            </a:r>
            <a:r>
              <a:rPr lang="en-US" altLang="ko-KR" sz="800" dirty="0"/>
              <a:t>20°</a:t>
            </a:r>
            <a:endParaRPr lang="ko-KR" altLang="en-US" sz="8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D20F33C-7EF7-A1C2-7AC3-909A2ACFB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36" y="4303567"/>
            <a:ext cx="4787383" cy="25821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AFA71D-37AB-71C1-C596-2BE0D6D95613}"/>
              </a:ext>
            </a:extLst>
          </p:cNvPr>
          <p:cNvSpPr txBox="1"/>
          <p:nvPr/>
        </p:nvSpPr>
        <p:spPr>
          <a:xfrm>
            <a:off x="8190657" y="3966593"/>
            <a:ext cx="2403567" cy="4616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Single plane-wave – no steering</a:t>
            </a:r>
          </a:p>
          <a:p>
            <a:r>
              <a:rPr lang="en-US" altLang="ko-KR" sz="1200" dirty="0"/>
              <a:t>All elements are active at once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0931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5AEA915A-2969-182B-FDC6-1CAD67FF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025" y="94096"/>
            <a:ext cx="8997950" cy="447675"/>
          </a:xfrm>
        </p:spPr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TX </a:t>
            </a:r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DFFF14A-FDA8-85C9-318B-0F62C7024C0B}"/>
              </a:ext>
            </a:extLst>
          </p:cNvPr>
          <p:cNvGrpSpPr/>
          <p:nvPr/>
        </p:nvGrpSpPr>
        <p:grpSpPr>
          <a:xfrm>
            <a:off x="2318327" y="1464251"/>
            <a:ext cx="7102763" cy="4622512"/>
            <a:chOff x="2287892" y="1099126"/>
            <a:chExt cx="7420093" cy="5166774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FD526DB-A00E-CD89-4FF3-831CF2585790}"/>
                </a:ext>
              </a:extLst>
            </p:cNvPr>
            <p:cNvGrpSpPr/>
            <p:nvPr/>
          </p:nvGrpSpPr>
          <p:grpSpPr>
            <a:xfrm>
              <a:off x="2382981" y="1099126"/>
              <a:ext cx="7325003" cy="1447415"/>
              <a:chOff x="2096654" y="1278324"/>
              <a:chExt cx="7998692" cy="2070162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03028139-23FF-D022-AC44-EFA204103B67}"/>
                  </a:ext>
                </a:extLst>
              </p:cNvPr>
              <p:cNvGrpSpPr/>
              <p:nvPr/>
            </p:nvGrpSpPr>
            <p:grpSpPr>
              <a:xfrm>
                <a:off x="2096654" y="1278324"/>
                <a:ext cx="7998692" cy="2070162"/>
                <a:chOff x="1662417" y="1219199"/>
                <a:chExt cx="9944849" cy="1925937"/>
              </a:xfrm>
            </p:grpSpPr>
            <p:pic>
              <p:nvPicPr>
                <p:cNvPr id="3" name="그림 2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04131B7-EA84-0D34-3C25-74B151AF9F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5385866" y="1219199"/>
                  <a:ext cx="2233504" cy="1925937"/>
                </a:xfrm>
                <a:prstGeom prst="rect">
                  <a:avLst/>
                </a:prstGeom>
              </p:spPr>
            </p:pic>
            <p:pic>
              <p:nvPicPr>
                <p:cNvPr id="6" name="그림 5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11BCEC8B-9E81-54A1-DA07-B5B36E90FA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3598244" y="1219199"/>
                  <a:ext cx="2175384" cy="1925937"/>
                </a:xfrm>
                <a:prstGeom prst="rect">
                  <a:avLst/>
                </a:prstGeom>
              </p:spPr>
            </p:pic>
            <p:pic>
              <p:nvPicPr>
                <p:cNvPr id="8" name="그림 7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4E1BC59-4E7E-2756-B81F-95B0A5A67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1662417" y="1219199"/>
                  <a:ext cx="2175386" cy="1925937"/>
                </a:xfrm>
                <a:prstGeom prst="rect">
                  <a:avLst/>
                </a:prstGeom>
              </p:spPr>
            </p:pic>
            <p:pic>
              <p:nvPicPr>
                <p:cNvPr id="11" name="그림 10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9A6F7464-85E9-9626-BA63-FD5FC0F1E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7376218" y="1219199"/>
                  <a:ext cx="2276018" cy="1925937"/>
                </a:xfrm>
                <a:prstGeom prst="rect">
                  <a:avLst/>
                </a:prstGeom>
              </p:spPr>
            </p:pic>
            <p:pic>
              <p:nvPicPr>
                <p:cNvPr id="13" name="그림 12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BA706BD1-36D9-D3C4-175D-00370BD38B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9529839" y="1219199"/>
                  <a:ext cx="2077427" cy="1925937"/>
                </a:xfrm>
                <a:prstGeom prst="rect">
                  <a:avLst/>
                </a:prstGeom>
              </p:spPr>
            </p:pic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A17DF5-BD4D-787A-AB0A-BD15908A1E63}"/>
                  </a:ext>
                </a:extLst>
              </p:cNvPr>
              <p:cNvSpPr txBox="1"/>
              <p:nvPr/>
            </p:nvSpPr>
            <p:spPr>
              <a:xfrm>
                <a:off x="2407656" y="1526072"/>
                <a:ext cx="1192886" cy="58350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4D0248-82C8-161A-4703-D3262A428D1C}"/>
                  </a:ext>
                </a:extLst>
              </p:cNvPr>
              <p:cNvSpPr txBox="1"/>
              <p:nvPr/>
            </p:nvSpPr>
            <p:spPr>
              <a:xfrm>
                <a:off x="4072447" y="1515271"/>
                <a:ext cx="1060385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- 10°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4D09B8-87F5-8952-CCF2-FAB73029FD1B}"/>
                  </a:ext>
                </a:extLst>
              </p:cNvPr>
              <p:cNvSpPr txBox="1"/>
              <p:nvPr/>
            </p:nvSpPr>
            <p:spPr>
              <a:xfrm>
                <a:off x="5647722" y="1497965"/>
                <a:ext cx="941903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3B3D60F-2BF1-979A-1568-C3188C589961}"/>
                  </a:ext>
                </a:extLst>
              </p:cNvPr>
              <p:cNvSpPr txBox="1"/>
              <p:nvPr/>
            </p:nvSpPr>
            <p:spPr>
              <a:xfrm>
                <a:off x="7221438" y="1524556"/>
                <a:ext cx="941903" cy="58350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4C78D8C-4481-8654-303F-DBCBB7E374AE}"/>
                  </a:ext>
                </a:extLst>
              </p:cNvPr>
              <p:cNvSpPr txBox="1"/>
              <p:nvPr/>
            </p:nvSpPr>
            <p:spPr>
              <a:xfrm>
                <a:off x="8869404" y="1520895"/>
                <a:ext cx="981539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20°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B9C08401-B537-9BA8-CB19-634E5DEE7289}"/>
                </a:ext>
              </a:extLst>
            </p:cNvPr>
            <p:cNvGrpSpPr/>
            <p:nvPr/>
          </p:nvGrpSpPr>
          <p:grpSpPr>
            <a:xfrm>
              <a:off x="2317380" y="2754672"/>
              <a:ext cx="7390605" cy="1777998"/>
              <a:chOff x="2290402" y="2945935"/>
              <a:chExt cx="7417583" cy="1810792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8911CCFD-B768-13B1-D942-1DEAB926EED1}"/>
                  </a:ext>
                </a:extLst>
              </p:cNvPr>
              <p:cNvGrpSpPr/>
              <p:nvPr/>
            </p:nvGrpSpPr>
            <p:grpSpPr>
              <a:xfrm>
                <a:off x="2290402" y="2945935"/>
                <a:ext cx="7417583" cy="1810792"/>
                <a:chOff x="2308892" y="2945935"/>
                <a:chExt cx="7416707" cy="1551163"/>
              </a:xfrm>
            </p:grpSpPr>
            <p:pic>
              <p:nvPicPr>
                <p:cNvPr id="38" name="그림 37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DDA72D20-4980-6BDC-AD4C-094CCE67AC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013"/>
                <a:stretch>
                  <a:fillRect/>
                </a:stretch>
              </p:blipFill>
              <p:spPr>
                <a:xfrm>
                  <a:off x="2308892" y="2945937"/>
                  <a:ext cx="1632490" cy="1526708"/>
                </a:xfrm>
                <a:prstGeom prst="rect">
                  <a:avLst/>
                </a:prstGeom>
              </p:spPr>
            </p:pic>
            <p:pic>
              <p:nvPicPr>
                <p:cNvPr id="40" name="그림 39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13690D32-7634-B437-0717-E384CF139B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225"/>
                <a:stretch>
                  <a:fillRect/>
                </a:stretch>
              </p:blipFill>
              <p:spPr>
                <a:xfrm>
                  <a:off x="3761476" y="2955383"/>
                  <a:ext cx="1550463" cy="1474112"/>
                </a:xfrm>
                <a:prstGeom prst="rect">
                  <a:avLst/>
                </a:prstGeom>
              </p:spPr>
            </p:pic>
            <p:pic>
              <p:nvPicPr>
                <p:cNvPr id="42" name="그림 41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3D0E8AF1-F5ED-F93C-1E4A-E1F57F047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704"/>
                <a:stretch>
                  <a:fillRect/>
                </a:stretch>
              </p:blipFill>
              <p:spPr>
                <a:xfrm>
                  <a:off x="5145403" y="2956644"/>
                  <a:ext cx="1632486" cy="1474113"/>
                </a:xfrm>
                <a:prstGeom prst="rect">
                  <a:avLst/>
                </a:prstGeom>
              </p:spPr>
            </p:pic>
            <p:pic>
              <p:nvPicPr>
                <p:cNvPr id="44" name="그림 43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5FC18B33-48C8-8014-CCA1-EAFD95AF16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7876"/>
                <a:stretch>
                  <a:fillRect/>
                </a:stretch>
              </p:blipFill>
              <p:spPr>
                <a:xfrm>
                  <a:off x="8017591" y="2945935"/>
                  <a:ext cx="1708008" cy="1551162"/>
                </a:xfrm>
                <a:prstGeom prst="rect">
                  <a:avLst/>
                </a:prstGeom>
              </p:spPr>
            </p:pic>
            <p:pic>
              <p:nvPicPr>
                <p:cNvPr id="46" name="그림 45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88AFC487-388E-1593-D396-C3874B0AC7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7196"/>
                <a:stretch>
                  <a:fillRect/>
                </a:stretch>
              </p:blipFill>
              <p:spPr>
                <a:xfrm>
                  <a:off x="6584113" y="2970390"/>
                  <a:ext cx="1632486" cy="1526708"/>
                </a:xfrm>
                <a:prstGeom prst="rect">
                  <a:avLst/>
                </a:prstGeom>
              </p:spPr>
            </p:pic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44A100-79E6-485D-7172-5D35B82879DC}"/>
                  </a:ext>
                </a:extLst>
              </p:cNvPr>
              <p:cNvSpPr txBox="1"/>
              <p:nvPr/>
            </p:nvSpPr>
            <p:spPr>
              <a:xfrm>
                <a:off x="2602208" y="3147686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2F17D9-B95C-98CD-CF06-00C9C6102B13}"/>
                  </a:ext>
                </a:extLst>
              </p:cNvPr>
              <p:cNvSpPr txBox="1"/>
              <p:nvPr/>
            </p:nvSpPr>
            <p:spPr>
              <a:xfrm>
                <a:off x="4022579" y="3179440"/>
                <a:ext cx="999260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2CD2683-2C20-9A39-0533-997D461ED75B}"/>
                  </a:ext>
                </a:extLst>
              </p:cNvPr>
              <p:cNvSpPr txBox="1"/>
              <p:nvPr/>
            </p:nvSpPr>
            <p:spPr>
              <a:xfrm>
                <a:off x="5499838" y="3147686"/>
                <a:ext cx="909666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38E30F-FF9C-EB76-149E-8DBF1B6027A2}"/>
                  </a:ext>
                </a:extLst>
              </p:cNvPr>
              <p:cNvSpPr txBox="1"/>
              <p:nvPr/>
            </p:nvSpPr>
            <p:spPr>
              <a:xfrm>
                <a:off x="6965788" y="3179440"/>
                <a:ext cx="877363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10°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5622F01-A3F0-41A7-2FD5-BC10376C1654}"/>
                  </a:ext>
                </a:extLst>
              </p:cNvPr>
              <p:cNvSpPr txBox="1"/>
              <p:nvPr/>
            </p:nvSpPr>
            <p:spPr>
              <a:xfrm>
                <a:off x="8480169" y="3147686"/>
                <a:ext cx="878923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20°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26AFE6-EF8C-A0EB-E4D1-DA51D5E5D4F7}"/>
                </a:ext>
              </a:extLst>
            </p:cNvPr>
            <p:cNvGrpSpPr/>
            <p:nvPr/>
          </p:nvGrpSpPr>
          <p:grpSpPr>
            <a:xfrm>
              <a:off x="2287892" y="4719021"/>
              <a:ext cx="7420093" cy="1546879"/>
              <a:chOff x="2260806" y="4690489"/>
              <a:chExt cx="7447179" cy="1575411"/>
            </a:xfrm>
          </p:grpSpPr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E8DCFE10-7E64-A4DC-16EE-9ECBE7F54807}"/>
                  </a:ext>
                </a:extLst>
              </p:cNvPr>
              <p:cNvGrpSpPr/>
              <p:nvPr/>
            </p:nvGrpSpPr>
            <p:grpSpPr>
              <a:xfrm>
                <a:off x="2260806" y="4690489"/>
                <a:ext cx="7447179" cy="1575411"/>
                <a:chOff x="2260806" y="4690489"/>
                <a:chExt cx="7356615" cy="1575411"/>
              </a:xfrm>
            </p:grpSpPr>
            <p:pic>
              <p:nvPicPr>
                <p:cNvPr id="57" name="그림 56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B4CB8695-394C-0034-40BD-C5D3D39012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310" b="30371"/>
                <a:stretch>
                  <a:fillRect/>
                </a:stretch>
              </p:blipFill>
              <p:spPr>
                <a:xfrm>
                  <a:off x="2260806" y="4690489"/>
                  <a:ext cx="1764204" cy="1488485"/>
                </a:xfrm>
                <a:prstGeom prst="rect">
                  <a:avLst/>
                </a:prstGeom>
              </p:spPr>
            </p:pic>
            <p:pic>
              <p:nvPicPr>
                <p:cNvPr id="59" name="그림 58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D00D5E02-EF45-2BD1-56D1-DF5815B90A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96" t="3771" r="3896" b="29966"/>
                <a:stretch>
                  <a:fillRect/>
                </a:stretch>
              </p:blipFill>
              <p:spPr>
                <a:xfrm>
                  <a:off x="3741325" y="4699113"/>
                  <a:ext cx="1550646" cy="1511371"/>
                </a:xfrm>
                <a:prstGeom prst="rect">
                  <a:avLst/>
                </a:prstGeom>
              </p:spPr>
            </p:pic>
            <p:pic>
              <p:nvPicPr>
                <p:cNvPr id="61" name="그림 60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63B3D5D2-EF0C-89BE-ED4C-EFF5D0D217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43" t="4800" r="4596" b="28628"/>
                <a:stretch>
                  <a:fillRect/>
                </a:stretch>
              </p:blipFill>
              <p:spPr>
                <a:xfrm>
                  <a:off x="5200965" y="4721920"/>
                  <a:ext cx="1485244" cy="1504241"/>
                </a:xfrm>
                <a:prstGeom prst="rect">
                  <a:avLst/>
                </a:prstGeom>
              </p:spPr>
            </p:pic>
            <p:pic>
              <p:nvPicPr>
                <p:cNvPr id="63" name="그림 62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8658FAFE-878E-6421-1CC0-C02FB7801D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76" t="4753" r="6634" b="28715"/>
                <a:stretch>
                  <a:fillRect/>
                </a:stretch>
              </p:blipFill>
              <p:spPr>
                <a:xfrm>
                  <a:off x="6640780" y="4712392"/>
                  <a:ext cx="1449654" cy="1553508"/>
                </a:xfrm>
                <a:prstGeom prst="rect">
                  <a:avLst/>
                </a:prstGeom>
              </p:spPr>
            </p:pic>
            <p:pic>
              <p:nvPicPr>
                <p:cNvPr id="65" name="그림 64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035B275-4261-352D-D754-079209C039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91" t="5008" r="7740" b="29894"/>
                <a:stretch>
                  <a:fillRect/>
                </a:stretch>
              </p:blipFill>
              <p:spPr>
                <a:xfrm>
                  <a:off x="8167767" y="4699112"/>
                  <a:ext cx="1449654" cy="1566787"/>
                </a:xfrm>
                <a:prstGeom prst="rect">
                  <a:avLst/>
                </a:prstGeom>
              </p:spPr>
            </p:pic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0CE0FB2-5EC1-49B2-8DC3-01D798C67F65}"/>
                  </a:ext>
                </a:extLst>
              </p:cNvPr>
              <p:cNvSpPr txBox="1"/>
              <p:nvPr/>
            </p:nvSpPr>
            <p:spPr>
              <a:xfrm>
                <a:off x="2676556" y="4740862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D97F22A-1600-0846-FD90-5D5A23788420}"/>
                  </a:ext>
                </a:extLst>
              </p:cNvPr>
              <p:cNvSpPr txBox="1"/>
              <p:nvPr/>
            </p:nvSpPr>
            <p:spPr>
              <a:xfrm>
                <a:off x="4076188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C55327A-3409-F884-94C8-35CBBAB4BA3A}"/>
                  </a:ext>
                </a:extLst>
              </p:cNvPr>
              <p:cNvSpPr txBox="1"/>
              <p:nvPr/>
            </p:nvSpPr>
            <p:spPr>
              <a:xfrm>
                <a:off x="5477879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51841D9-47C3-7673-CA33-6AFBFA753E79}"/>
                  </a:ext>
                </a:extLst>
              </p:cNvPr>
              <p:cNvSpPr txBox="1"/>
              <p:nvPr/>
            </p:nvSpPr>
            <p:spPr>
              <a:xfrm>
                <a:off x="6991478" y="4800029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ED828AF-A003-B5B0-2F03-A1F45B67274F}"/>
                  </a:ext>
                </a:extLst>
              </p:cNvPr>
              <p:cNvSpPr txBox="1"/>
              <p:nvPr/>
            </p:nvSpPr>
            <p:spPr>
              <a:xfrm>
                <a:off x="8480169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CB41645B-5ECB-FAFA-EA66-6AC1B3311A09}"/>
              </a:ext>
            </a:extLst>
          </p:cNvPr>
          <p:cNvSpPr txBox="1"/>
          <p:nvPr/>
        </p:nvSpPr>
        <p:spPr>
          <a:xfrm>
            <a:off x="2184096" y="1072794"/>
            <a:ext cx="782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Vizualizatoin</a:t>
            </a:r>
            <a:r>
              <a:rPr lang="en-US" altLang="ko-KR" dirty="0"/>
              <a:t> of Transmission of Plane Waves, Steering at Different Angles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23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039F-A62D-1C92-D19B-BC4AE004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TX </a:t>
            </a:r>
            <a:endParaRPr lang="en-US" dirty="0"/>
          </a:p>
        </p:txBody>
      </p:sp>
      <p:grpSp>
        <p:nvGrpSpPr>
          <p:cNvPr id="3" name="그룹 72">
            <a:extLst>
              <a:ext uri="{FF2B5EF4-FFF2-40B4-BE49-F238E27FC236}">
                <a16:creationId xmlns:a16="http://schemas.microsoft.com/office/drawing/2014/main" id="{2BCA7FBD-E5EA-C326-9543-3435B8D87209}"/>
              </a:ext>
            </a:extLst>
          </p:cNvPr>
          <p:cNvGrpSpPr/>
          <p:nvPr/>
        </p:nvGrpSpPr>
        <p:grpSpPr>
          <a:xfrm>
            <a:off x="2283496" y="1501280"/>
            <a:ext cx="7102763" cy="4622512"/>
            <a:chOff x="2287892" y="1099126"/>
            <a:chExt cx="7420093" cy="5166774"/>
          </a:xfrm>
        </p:grpSpPr>
        <p:grpSp>
          <p:nvGrpSpPr>
            <p:cNvPr id="4" name="그룹 28">
              <a:extLst>
                <a:ext uri="{FF2B5EF4-FFF2-40B4-BE49-F238E27FC236}">
                  <a16:creationId xmlns:a16="http://schemas.microsoft.com/office/drawing/2014/main" id="{38842B92-C23F-3C0F-B760-C996F4C157AD}"/>
                </a:ext>
              </a:extLst>
            </p:cNvPr>
            <p:cNvGrpSpPr/>
            <p:nvPr/>
          </p:nvGrpSpPr>
          <p:grpSpPr>
            <a:xfrm>
              <a:off x="2382981" y="1099126"/>
              <a:ext cx="7325003" cy="1447415"/>
              <a:chOff x="2096654" y="1278324"/>
              <a:chExt cx="7998692" cy="2070162"/>
            </a:xfrm>
          </p:grpSpPr>
          <p:grpSp>
            <p:nvGrpSpPr>
              <p:cNvPr id="29" name="그룹 13">
                <a:extLst>
                  <a:ext uri="{FF2B5EF4-FFF2-40B4-BE49-F238E27FC236}">
                    <a16:creationId xmlns:a16="http://schemas.microsoft.com/office/drawing/2014/main" id="{EEA1FAF4-FA60-8589-6022-959D59C5478D}"/>
                  </a:ext>
                </a:extLst>
              </p:cNvPr>
              <p:cNvGrpSpPr/>
              <p:nvPr/>
            </p:nvGrpSpPr>
            <p:grpSpPr>
              <a:xfrm>
                <a:off x="2096654" y="1278324"/>
                <a:ext cx="7998692" cy="2070162"/>
                <a:chOff x="1662417" y="1219199"/>
                <a:chExt cx="9944849" cy="1925937"/>
              </a:xfrm>
            </p:grpSpPr>
            <p:pic>
              <p:nvPicPr>
                <p:cNvPr id="35" name="그림 2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030504B-8CB3-EDB5-0D2A-FF991661C3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5385866" y="1219199"/>
                  <a:ext cx="2233504" cy="1925937"/>
                </a:xfrm>
                <a:prstGeom prst="rect">
                  <a:avLst/>
                </a:prstGeom>
              </p:spPr>
            </p:pic>
            <p:pic>
              <p:nvPicPr>
                <p:cNvPr id="36" name="그림 5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00D8AE0F-D546-4D8D-9153-90FB9E3D2E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3598244" y="1219199"/>
                  <a:ext cx="2175384" cy="1925937"/>
                </a:xfrm>
                <a:prstGeom prst="rect">
                  <a:avLst/>
                </a:prstGeom>
              </p:spPr>
            </p:pic>
            <p:pic>
              <p:nvPicPr>
                <p:cNvPr id="37" name="그림 7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EC07A046-864B-6856-5460-5CF83093FD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1662417" y="1219199"/>
                  <a:ext cx="2175386" cy="1925937"/>
                </a:xfrm>
                <a:prstGeom prst="rect">
                  <a:avLst/>
                </a:prstGeom>
              </p:spPr>
            </p:pic>
            <p:pic>
              <p:nvPicPr>
                <p:cNvPr id="38" name="그림 10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F6D77217-B947-739D-D6CB-3FE0DE868C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7376218" y="1219199"/>
                  <a:ext cx="2276018" cy="1925937"/>
                </a:xfrm>
                <a:prstGeom prst="rect">
                  <a:avLst/>
                </a:prstGeom>
              </p:spPr>
            </p:pic>
            <p:pic>
              <p:nvPicPr>
                <p:cNvPr id="39" name="그림 12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F5F20D0-E24D-7AA0-C3A8-57F3396B05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1458"/>
                <a:stretch>
                  <a:fillRect/>
                </a:stretch>
              </p:blipFill>
              <p:spPr>
                <a:xfrm>
                  <a:off x="9529839" y="1219199"/>
                  <a:ext cx="2077427" cy="1925937"/>
                </a:xfrm>
                <a:prstGeom prst="rect">
                  <a:avLst/>
                </a:prstGeom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ADBE269-314E-C823-3B10-27621026E0DA}"/>
                  </a:ext>
                </a:extLst>
              </p:cNvPr>
              <p:cNvSpPr txBox="1"/>
              <p:nvPr/>
            </p:nvSpPr>
            <p:spPr>
              <a:xfrm>
                <a:off x="2407656" y="1526072"/>
                <a:ext cx="1192886" cy="58350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3699D2-D40A-DD52-F541-F63C15F19375}"/>
                  </a:ext>
                </a:extLst>
              </p:cNvPr>
              <p:cNvSpPr txBox="1"/>
              <p:nvPr/>
            </p:nvSpPr>
            <p:spPr>
              <a:xfrm>
                <a:off x="4072447" y="1515271"/>
                <a:ext cx="1060385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- 10°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FF43E1-9D14-6FFC-E304-1DD8C9B05C47}"/>
                  </a:ext>
                </a:extLst>
              </p:cNvPr>
              <p:cNvSpPr txBox="1"/>
              <p:nvPr/>
            </p:nvSpPr>
            <p:spPr>
              <a:xfrm>
                <a:off x="5647722" y="1497965"/>
                <a:ext cx="941903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019646-8799-5A69-2837-891C42B5B3CD}"/>
                  </a:ext>
                </a:extLst>
              </p:cNvPr>
              <p:cNvSpPr txBox="1"/>
              <p:nvPr/>
            </p:nvSpPr>
            <p:spPr>
              <a:xfrm>
                <a:off x="7221438" y="1524556"/>
                <a:ext cx="941903" cy="58350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E40D5C-104D-3645-AED6-F46B6D678550}"/>
                  </a:ext>
                </a:extLst>
              </p:cNvPr>
              <p:cNvSpPr txBox="1"/>
              <p:nvPr/>
            </p:nvSpPr>
            <p:spPr>
              <a:xfrm>
                <a:off x="8869404" y="1520895"/>
                <a:ext cx="981539" cy="561893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XY-plane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20°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5" name="그룹 52">
              <a:extLst>
                <a:ext uri="{FF2B5EF4-FFF2-40B4-BE49-F238E27FC236}">
                  <a16:creationId xmlns:a16="http://schemas.microsoft.com/office/drawing/2014/main" id="{2C6B32EB-BDDD-A8D4-7502-05A04818D244}"/>
                </a:ext>
              </a:extLst>
            </p:cNvPr>
            <p:cNvGrpSpPr/>
            <p:nvPr/>
          </p:nvGrpSpPr>
          <p:grpSpPr>
            <a:xfrm>
              <a:off x="2317380" y="2754672"/>
              <a:ext cx="7390605" cy="1777998"/>
              <a:chOff x="2290402" y="2945935"/>
              <a:chExt cx="7417583" cy="1810792"/>
            </a:xfrm>
          </p:grpSpPr>
          <p:grpSp>
            <p:nvGrpSpPr>
              <p:cNvPr id="18" name="그룹 46">
                <a:extLst>
                  <a:ext uri="{FF2B5EF4-FFF2-40B4-BE49-F238E27FC236}">
                    <a16:creationId xmlns:a16="http://schemas.microsoft.com/office/drawing/2014/main" id="{1D796549-8668-90E9-492D-606BA76009C1}"/>
                  </a:ext>
                </a:extLst>
              </p:cNvPr>
              <p:cNvGrpSpPr/>
              <p:nvPr/>
            </p:nvGrpSpPr>
            <p:grpSpPr>
              <a:xfrm>
                <a:off x="2290402" y="2945935"/>
                <a:ext cx="7417583" cy="1810792"/>
                <a:chOff x="2308892" y="2945935"/>
                <a:chExt cx="7416707" cy="1551163"/>
              </a:xfrm>
            </p:grpSpPr>
            <p:pic>
              <p:nvPicPr>
                <p:cNvPr id="24" name="그림 37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A5EE9AB2-E649-5330-F3F4-4719B15FE0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013"/>
                <a:stretch>
                  <a:fillRect/>
                </a:stretch>
              </p:blipFill>
              <p:spPr>
                <a:xfrm>
                  <a:off x="2308892" y="2945937"/>
                  <a:ext cx="1632490" cy="1526708"/>
                </a:xfrm>
                <a:prstGeom prst="rect">
                  <a:avLst/>
                </a:prstGeom>
              </p:spPr>
            </p:pic>
            <p:pic>
              <p:nvPicPr>
                <p:cNvPr id="25" name="그림 39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5205C78A-CFED-D0AB-870E-489CDA52D5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225"/>
                <a:stretch>
                  <a:fillRect/>
                </a:stretch>
              </p:blipFill>
              <p:spPr>
                <a:xfrm>
                  <a:off x="3761476" y="2955383"/>
                  <a:ext cx="1550463" cy="1474112"/>
                </a:xfrm>
                <a:prstGeom prst="rect">
                  <a:avLst/>
                </a:prstGeom>
              </p:spPr>
            </p:pic>
            <p:pic>
              <p:nvPicPr>
                <p:cNvPr id="26" name="그림 41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F16F5BBA-FF4B-B153-9FA3-E89D4F319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9704"/>
                <a:stretch>
                  <a:fillRect/>
                </a:stretch>
              </p:blipFill>
              <p:spPr>
                <a:xfrm>
                  <a:off x="5145403" y="2956644"/>
                  <a:ext cx="1632486" cy="1474113"/>
                </a:xfrm>
                <a:prstGeom prst="rect">
                  <a:avLst/>
                </a:prstGeom>
              </p:spPr>
            </p:pic>
            <p:pic>
              <p:nvPicPr>
                <p:cNvPr id="27" name="그림 43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AF460742-EC8D-CA82-E9F8-E61618D23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7876"/>
                <a:stretch>
                  <a:fillRect/>
                </a:stretch>
              </p:blipFill>
              <p:spPr>
                <a:xfrm>
                  <a:off x="8017591" y="2945935"/>
                  <a:ext cx="1708008" cy="1551162"/>
                </a:xfrm>
                <a:prstGeom prst="rect">
                  <a:avLst/>
                </a:prstGeom>
              </p:spPr>
            </p:pic>
            <p:pic>
              <p:nvPicPr>
                <p:cNvPr id="28" name="그림 45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F6997556-EB39-2F79-2B7C-81A37D068D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7196"/>
                <a:stretch>
                  <a:fillRect/>
                </a:stretch>
              </p:blipFill>
              <p:spPr>
                <a:xfrm>
                  <a:off x="6584113" y="2970390"/>
                  <a:ext cx="1632486" cy="1526708"/>
                </a:xfrm>
                <a:prstGeom prst="rect">
                  <a:avLst/>
                </a:prstGeom>
              </p:spPr>
            </p:pic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B87AAB-A6AE-DDBB-A784-3DC4D25357E7}"/>
                  </a:ext>
                </a:extLst>
              </p:cNvPr>
              <p:cNvSpPr txBox="1"/>
              <p:nvPr/>
            </p:nvSpPr>
            <p:spPr>
              <a:xfrm>
                <a:off x="2602208" y="3147686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DB0203E-0950-DC40-D76A-176C3911728C}"/>
                  </a:ext>
                </a:extLst>
              </p:cNvPr>
              <p:cNvSpPr txBox="1"/>
              <p:nvPr/>
            </p:nvSpPr>
            <p:spPr>
              <a:xfrm>
                <a:off x="4022579" y="3179440"/>
                <a:ext cx="999260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3B16561-578A-BDC9-267B-9731F22EA3D6}"/>
                  </a:ext>
                </a:extLst>
              </p:cNvPr>
              <p:cNvSpPr txBox="1"/>
              <p:nvPr/>
            </p:nvSpPr>
            <p:spPr>
              <a:xfrm>
                <a:off x="5499838" y="3147686"/>
                <a:ext cx="909666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B29A13-B258-01B7-EDEE-AE96C736E0AD}"/>
                  </a:ext>
                </a:extLst>
              </p:cNvPr>
              <p:cNvSpPr txBox="1"/>
              <p:nvPr/>
            </p:nvSpPr>
            <p:spPr>
              <a:xfrm>
                <a:off x="6965788" y="3179440"/>
                <a:ext cx="877363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10°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0AAED26-0B8C-4B95-104B-65E5423FD2E5}"/>
                  </a:ext>
                </a:extLst>
              </p:cNvPr>
              <p:cNvSpPr txBox="1"/>
              <p:nvPr/>
            </p:nvSpPr>
            <p:spPr>
              <a:xfrm>
                <a:off x="8480169" y="3147686"/>
                <a:ext cx="878923" cy="400110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XZ-plane 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at 20°</a:t>
                </a:r>
                <a:endParaRPr lang="ko-KR" altLang="en-US" sz="10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" name="그룹 71">
              <a:extLst>
                <a:ext uri="{FF2B5EF4-FFF2-40B4-BE49-F238E27FC236}">
                  <a16:creationId xmlns:a16="http://schemas.microsoft.com/office/drawing/2014/main" id="{D53CE4D3-79EF-945D-6636-753ED39E53AA}"/>
                </a:ext>
              </a:extLst>
            </p:cNvPr>
            <p:cNvGrpSpPr/>
            <p:nvPr/>
          </p:nvGrpSpPr>
          <p:grpSpPr>
            <a:xfrm>
              <a:off x="2287892" y="4719021"/>
              <a:ext cx="7420093" cy="1546879"/>
              <a:chOff x="2260806" y="4690489"/>
              <a:chExt cx="7447179" cy="1575411"/>
            </a:xfrm>
          </p:grpSpPr>
          <p:grpSp>
            <p:nvGrpSpPr>
              <p:cNvPr id="7" name="그룹 65">
                <a:extLst>
                  <a:ext uri="{FF2B5EF4-FFF2-40B4-BE49-F238E27FC236}">
                    <a16:creationId xmlns:a16="http://schemas.microsoft.com/office/drawing/2014/main" id="{FCD21C04-2BF2-B6C6-6468-4EF2EEBC849C}"/>
                  </a:ext>
                </a:extLst>
              </p:cNvPr>
              <p:cNvGrpSpPr/>
              <p:nvPr/>
            </p:nvGrpSpPr>
            <p:grpSpPr>
              <a:xfrm>
                <a:off x="2260806" y="4690489"/>
                <a:ext cx="7447179" cy="1575411"/>
                <a:chOff x="2260806" y="4690489"/>
                <a:chExt cx="7356615" cy="1575411"/>
              </a:xfrm>
            </p:grpSpPr>
            <p:pic>
              <p:nvPicPr>
                <p:cNvPr id="13" name="그림 56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FE3B5673-9BD6-3FA0-58EB-791EDFA0B1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310" b="30371"/>
                <a:stretch>
                  <a:fillRect/>
                </a:stretch>
              </p:blipFill>
              <p:spPr>
                <a:xfrm>
                  <a:off x="2260806" y="4690489"/>
                  <a:ext cx="1764204" cy="1488485"/>
                </a:xfrm>
                <a:prstGeom prst="rect">
                  <a:avLst/>
                </a:prstGeom>
              </p:spPr>
            </p:pic>
            <p:pic>
              <p:nvPicPr>
                <p:cNvPr id="14" name="그림 58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C7AF2EBE-3EE4-88E7-9D8E-5D64EAA67C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896" t="3771" r="3896" b="29966"/>
                <a:stretch>
                  <a:fillRect/>
                </a:stretch>
              </p:blipFill>
              <p:spPr>
                <a:xfrm>
                  <a:off x="3741325" y="4699113"/>
                  <a:ext cx="1550646" cy="1511371"/>
                </a:xfrm>
                <a:prstGeom prst="rect">
                  <a:avLst/>
                </a:prstGeom>
              </p:spPr>
            </p:pic>
            <p:pic>
              <p:nvPicPr>
                <p:cNvPr id="15" name="그림 60" descr="텍스트, 스크린샷, 멀티미디어 소프트웨어,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2B682EE9-A1C4-19A8-9696-F27A6943DD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43" t="4800" r="4596" b="28628"/>
                <a:stretch>
                  <a:fillRect/>
                </a:stretch>
              </p:blipFill>
              <p:spPr>
                <a:xfrm>
                  <a:off x="5200965" y="4721920"/>
                  <a:ext cx="1485244" cy="1504241"/>
                </a:xfrm>
                <a:prstGeom prst="rect">
                  <a:avLst/>
                </a:prstGeom>
              </p:spPr>
            </p:pic>
            <p:pic>
              <p:nvPicPr>
                <p:cNvPr id="16" name="그림 62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470761C0-69DE-CFC5-B80D-1957A9E124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76" t="4753" r="6634" b="28715"/>
                <a:stretch>
                  <a:fillRect/>
                </a:stretch>
              </p:blipFill>
              <p:spPr>
                <a:xfrm>
                  <a:off x="6640780" y="4712392"/>
                  <a:ext cx="1449654" cy="1553508"/>
                </a:xfrm>
                <a:prstGeom prst="rect">
                  <a:avLst/>
                </a:prstGeom>
              </p:spPr>
            </p:pic>
            <p:pic>
              <p:nvPicPr>
                <p:cNvPr id="17" name="그림 64" descr="텍스트, 스크린샷, 소프트웨어, 멀티미디어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6D2D6AD2-7AC7-EF93-7AB5-E86035F469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91" t="5008" r="7740" b="29894"/>
                <a:stretch>
                  <a:fillRect/>
                </a:stretch>
              </p:blipFill>
              <p:spPr>
                <a:xfrm>
                  <a:off x="8167767" y="4699112"/>
                  <a:ext cx="1449654" cy="1566787"/>
                </a:xfrm>
                <a:prstGeom prst="rect">
                  <a:avLst/>
                </a:prstGeom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C17AD9-4D4C-DB9F-8E2D-C8FEB23F26E5}"/>
                  </a:ext>
                </a:extLst>
              </p:cNvPr>
              <p:cNvSpPr txBox="1"/>
              <p:nvPr/>
            </p:nvSpPr>
            <p:spPr>
              <a:xfrm>
                <a:off x="2676556" y="4740862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32822C-6D43-5388-5F0D-C3C44F637F5D}"/>
                  </a:ext>
                </a:extLst>
              </p:cNvPr>
              <p:cNvSpPr txBox="1"/>
              <p:nvPr/>
            </p:nvSpPr>
            <p:spPr>
              <a:xfrm>
                <a:off x="4076188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-10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D12105-3BC4-12EC-A064-C9BBF81D3DA8}"/>
                  </a:ext>
                </a:extLst>
              </p:cNvPr>
              <p:cNvSpPr txBox="1"/>
              <p:nvPr/>
            </p:nvSpPr>
            <p:spPr>
              <a:xfrm>
                <a:off x="5477879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8730EB-7C60-9B8E-A893-BEE67D6CF630}"/>
                  </a:ext>
                </a:extLst>
              </p:cNvPr>
              <p:cNvSpPr txBox="1"/>
              <p:nvPr/>
            </p:nvSpPr>
            <p:spPr>
              <a:xfrm>
                <a:off x="6991478" y="4800029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10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1908A5-6A48-2D0C-B05A-9B30DAAC7C43}"/>
                  </a:ext>
                </a:extLst>
              </p:cNvPr>
              <p:cNvSpPr txBox="1"/>
              <p:nvPr/>
            </p:nvSpPr>
            <p:spPr>
              <a:xfrm>
                <a:off x="8480169" y="4787437"/>
                <a:ext cx="953583" cy="415498"/>
              </a:xfrm>
              <a:prstGeom prst="rect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YZ-plane</a:t>
                </a:r>
              </a:p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</a:rPr>
                  <a:t> at 20</a:t>
                </a:r>
                <a:r>
                  <a:rPr lang="en-US" altLang="ko-KR" sz="1100" dirty="0">
                    <a:solidFill>
                      <a:srgbClr val="FF0000"/>
                    </a:solidFill>
                  </a:rPr>
                  <a:t>°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272532B-FA80-1454-6806-8C54F033AA12}"/>
              </a:ext>
            </a:extLst>
          </p:cNvPr>
          <p:cNvSpPr/>
          <p:nvPr/>
        </p:nvSpPr>
        <p:spPr>
          <a:xfrm>
            <a:off x="5186553" y="1138686"/>
            <a:ext cx="1357611" cy="540588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A0DED8-06AB-1B3F-EC40-6D2727553737}"/>
              </a:ext>
            </a:extLst>
          </p:cNvPr>
          <p:cNvSpPr txBox="1"/>
          <p:nvPr/>
        </p:nvSpPr>
        <p:spPr>
          <a:xfrm>
            <a:off x="4467238" y="835898"/>
            <a:ext cx="269977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Single flash plane wave</a:t>
            </a:r>
          </a:p>
          <a:p>
            <a:pPr algn="ctr"/>
            <a:r>
              <a:rPr lang="en-US" altLang="ko-KR" dirty="0" err="1"/>
              <a:t>TX.steer</a:t>
            </a:r>
            <a:r>
              <a:rPr lang="en-US" altLang="ko-KR" dirty="0"/>
              <a:t> = [0.0,0.0]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34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49BAC-1E09-E3B2-132A-D020BBDE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Rx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DB02C1-5EC8-9002-13D3-2E59F6FF0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071" y="1453615"/>
            <a:ext cx="6579856" cy="4661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73F05A-C4C3-D879-7D89-1EC0A52153FB}"/>
              </a:ext>
            </a:extLst>
          </p:cNvPr>
          <p:cNvSpPr txBox="1"/>
          <p:nvPr/>
        </p:nvSpPr>
        <p:spPr>
          <a:xfrm>
            <a:off x="1597775" y="1084283"/>
            <a:ext cx="919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 visualize the </a:t>
            </a:r>
            <a:r>
              <a:rPr lang="en-US" altLang="ko-KR" b="1" dirty="0"/>
              <a:t>raw RF signals</a:t>
            </a:r>
            <a:r>
              <a:rPr lang="en-US" altLang="ko-KR" dirty="0"/>
              <a:t> received by the array for each transmit angle (</a:t>
            </a:r>
            <a:r>
              <a:rPr lang="en-US" altLang="ko-KR" dirty="0" err="1"/>
              <a:t>Acq</a:t>
            </a:r>
            <a:r>
              <a:rPr lang="en-US" altLang="ko-KR" dirty="0"/>
              <a:t> 1–5)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73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4E3EC-C3A6-8F75-D21C-E13D5E83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Rx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455111-0C66-30E0-E343-34146CCD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601" y="1731609"/>
            <a:ext cx="8017713" cy="4126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A5B0A5-3870-0946-397B-04E83B624831}"/>
              </a:ext>
            </a:extLst>
          </p:cNvPr>
          <p:cNvSpPr txBox="1"/>
          <p:nvPr/>
        </p:nvSpPr>
        <p:spPr>
          <a:xfrm>
            <a:off x="1851282" y="1178943"/>
            <a:ext cx="405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RF signal of single flash Transmission</a:t>
            </a:r>
          </a:p>
        </p:txBody>
      </p:sp>
    </p:spTree>
    <p:extLst>
      <p:ext uri="{BB962C8B-B14F-4D97-AF65-F5344CB8AC3E}">
        <p14:creationId xmlns:p14="http://schemas.microsoft.com/office/powerpoint/2010/main" val="168703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D6E2-DD55-EDF7-2BD2-78C89607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0763A-B687-B077-AFC2-5479B407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Image Reconstruction </a:t>
            </a:r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683E245-CF8D-5AD3-F9EE-1E9D30BA481E}"/>
              </a:ext>
            </a:extLst>
          </p:cNvPr>
          <p:cNvGrpSpPr/>
          <p:nvPr/>
        </p:nvGrpSpPr>
        <p:grpSpPr>
          <a:xfrm>
            <a:off x="2421147" y="942058"/>
            <a:ext cx="7873041" cy="1710359"/>
            <a:chOff x="2409349" y="1464251"/>
            <a:chExt cx="7011740" cy="1294946"/>
          </a:xfrm>
        </p:grpSpPr>
        <p:pic>
          <p:nvPicPr>
            <p:cNvPr id="11" name="그림 10" descr="텍스트, 스크린샷, 멀티미디어 소프트웨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4568A9F-E81E-747D-533E-81FF11A50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458"/>
            <a:stretch>
              <a:fillRect/>
            </a:stretch>
          </p:blipFill>
          <p:spPr>
            <a:xfrm>
              <a:off x="5034613" y="1464251"/>
              <a:ext cx="1574760" cy="1294946"/>
            </a:xfrm>
            <a:prstGeom prst="rect">
              <a:avLst/>
            </a:prstGeom>
          </p:spPr>
        </p:pic>
        <p:pic>
          <p:nvPicPr>
            <p:cNvPr id="12" name="그림 11" descr="텍스트, 스크린샷, 멀티미디어 소프트웨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CE2E5A-2106-0CD4-4444-2E59C49B9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458"/>
            <a:stretch>
              <a:fillRect/>
            </a:stretch>
          </p:blipFill>
          <p:spPr>
            <a:xfrm>
              <a:off x="3774228" y="1464251"/>
              <a:ext cx="1533782" cy="1294946"/>
            </a:xfrm>
            <a:prstGeom prst="rect">
              <a:avLst/>
            </a:prstGeom>
          </p:spPr>
        </p:pic>
        <p:pic>
          <p:nvPicPr>
            <p:cNvPr id="13" name="그림 12" descr="텍스트, 스크린샷, 멀티미디어 소프트웨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383C705-20A4-7405-E142-35A5AD94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458"/>
            <a:stretch>
              <a:fillRect/>
            </a:stretch>
          </p:blipFill>
          <p:spPr>
            <a:xfrm>
              <a:off x="2409349" y="1464251"/>
              <a:ext cx="1533783" cy="1294946"/>
            </a:xfrm>
            <a:prstGeom prst="rect">
              <a:avLst/>
            </a:prstGeom>
          </p:spPr>
        </p:pic>
        <p:pic>
          <p:nvPicPr>
            <p:cNvPr id="14" name="그림 13" descr="텍스트, 스크린샷, 소프트웨어, 멀티미디어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29B708-E1CC-16C7-1BF9-AC8DC930A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458"/>
            <a:stretch>
              <a:fillRect/>
            </a:stretch>
          </p:blipFill>
          <p:spPr>
            <a:xfrm>
              <a:off x="6422570" y="1464251"/>
              <a:ext cx="1604735" cy="1294946"/>
            </a:xfrm>
            <a:prstGeom prst="rect">
              <a:avLst/>
            </a:prstGeom>
          </p:spPr>
        </p:pic>
        <p:pic>
          <p:nvPicPr>
            <p:cNvPr id="15" name="그림 14" descr="텍스트, 스크린샷, 멀티미디어 소프트웨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6C35180-E1C0-C89A-99A7-B61087A9C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458"/>
            <a:stretch>
              <a:fillRect/>
            </a:stretch>
          </p:blipFill>
          <p:spPr>
            <a:xfrm>
              <a:off x="7956373" y="1464251"/>
              <a:ext cx="1464716" cy="129494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12DB79-AD7F-397A-59C6-354CE85D4B33}"/>
                </a:ext>
              </a:extLst>
            </p:cNvPr>
            <p:cNvSpPr txBox="1"/>
            <p:nvPr/>
          </p:nvSpPr>
          <p:spPr>
            <a:xfrm>
              <a:off x="2681977" y="1619225"/>
              <a:ext cx="1045697" cy="364998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XY-plane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 at -20</a:t>
              </a:r>
              <a:r>
                <a:rPr lang="en-US" altLang="ko-KR" sz="1100" dirty="0">
                  <a:solidFill>
                    <a:srgbClr val="FF0000"/>
                  </a:solidFill>
                </a:rPr>
                <a:t>°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304268-3E4D-FD22-0EFA-C872D3F123B2}"/>
                </a:ext>
              </a:extLst>
            </p:cNvPr>
            <p:cNvSpPr txBox="1"/>
            <p:nvPr/>
          </p:nvSpPr>
          <p:spPr>
            <a:xfrm>
              <a:off x="4141351" y="1612468"/>
              <a:ext cx="929545" cy="35148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XY-plane 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at - 10°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C7E185-E1EA-D91C-96E3-13F904C034CF}"/>
                </a:ext>
              </a:extLst>
            </p:cNvPr>
            <p:cNvSpPr txBox="1"/>
            <p:nvPr/>
          </p:nvSpPr>
          <p:spPr>
            <a:xfrm>
              <a:off x="5522254" y="1601643"/>
              <a:ext cx="825682" cy="35148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XY-plane 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at 0°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527B15A-645E-A6ED-7F54-7F7C9A7E1576}"/>
                </a:ext>
              </a:extLst>
            </p:cNvPr>
            <p:cNvSpPr txBox="1"/>
            <p:nvPr/>
          </p:nvSpPr>
          <p:spPr>
            <a:xfrm>
              <a:off x="6850572" y="1618276"/>
              <a:ext cx="825682" cy="364998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XY-plane 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at 10</a:t>
              </a:r>
              <a:r>
                <a:rPr lang="en-US" altLang="ko-KR" sz="1100" dirty="0">
                  <a:solidFill>
                    <a:srgbClr val="FF0000"/>
                  </a:solidFill>
                </a:rPr>
                <a:t>°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078312-A248-6438-303C-E8E9BD429D1E}"/>
                </a:ext>
              </a:extLst>
            </p:cNvPr>
            <p:cNvSpPr txBox="1"/>
            <p:nvPr/>
          </p:nvSpPr>
          <p:spPr>
            <a:xfrm>
              <a:off x="8346415" y="1615986"/>
              <a:ext cx="860428" cy="351480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XY-plane 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at 20°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4" name="그림 23" descr="텍스트, 스크린샷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AAF815-6ECC-79B7-3DD7-C0CDAB403D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827" y="3493297"/>
            <a:ext cx="2233804" cy="2248931"/>
          </a:xfrm>
          <a:prstGeom prst="rect">
            <a:avLst/>
          </a:prstGeom>
        </p:spPr>
      </p:pic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AFED5AF6-D78D-0858-7004-BE7886A9EDEE}"/>
              </a:ext>
            </a:extLst>
          </p:cNvPr>
          <p:cNvSpPr/>
          <p:nvPr/>
        </p:nvSpPr>
        <p:spPr>
          <a:xfrm>
            <a:off x="5778729" y="3493297"/>
            <a:ext cx="785000" cy="45406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EC51E2-DF38-1A95-67E3-EA65296E35B4}"/>
              </a:ext>
            </a:extLst>
          </p:cNvPr>
          <p:cNvSpPr txBox="1"/>
          <p:nvPr/>
        </p:nvSpPr>
        <p:spPr>
          <a:xfrm>
            <a:off x="4864763" y="5759710"/>
            <a:ext cx="2546498" cy="24622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 </a:t>
            </a:r>
            <a:r>
              <a:rPr lang="en-US" altLang="ko-KR" sz="1000" dirty="0" err="1">
                <a:solidFill>
                  <a:srgbClr val="FF0000"/>
                </a:solidFill>
              </a:rPr>
              <a:t>xy</a:t>
            </a:r>
            <a:r>
              <a:rPr lang="en-US" altLang="ko-KR" sz="1000" dirty="0">
                <a:solidFill>
                  <a:srgbClr val="FF0000"/>
                </a:solidFill>
              </a:rPr>
              <a:t>-plane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5A350-40FE-05BA-0554-8FD99260CD35}"/>
              </a:ext>
            </a:extLst>
          </p:cNvPr>
          <p:cNvSpPr txBox="1"/>
          <p:nvPr/>
        </p:nvSpPr>
        <p:spPr>
          <a:xfrm>
            <a:off x="5593057" y="3093421"/>
            <a:ext cx="1257717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Rcv</a:t>
            </a:r>
            <a:r>
              <a:rPr lang="en-US" dirty="0"/>
              <a:t> Buffer</a:t>
            </a:r>
          </a:p>
        </p:txBody>
      </p:sp>
      <p:sp>
        <p:nvSpPr>
          <p:cNvPr id="4" name="화살표: 아래쪽 21">
            <a:extLst>
              <a:ext uri="{FF2B5EF4-FFF2-40B4-BE49-F238E27FC236}">
                <a16:creationId xmlns:a16="http://schemas.microsoft.com/office/drawing/2014/main" id="{2E1594B0-D8C7-5E92-7191-0E59045E6E2C}"/>
              </a:ext>
            </a:extLst>
          </p:cNvPr>
          <p:cNvSpPr/>
          <p:nvPr/>
        </p:nvSpPr>
        <p:spPr>
          <a:xfrm>
            <a:off x="5790230" y="2652417"/>
            <a:ext cx="785000" cy="45406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50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0E42C-8E80-5685-F972-39EA4FA4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A513289B-E72D-9AAF-0A9E-B88D54C3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025" y="158750"/>
            <a:ext cx="8997950" cy="447675"/>
          </a:xfrm>
        </p:spPr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Image Reconstruction </a:t>
            </a:r>
            <a:endParaRPr lang="ko-KR" altLang="en-US" dirty="0"/>
          </a:p>
        </p:txBody>
      </p:sp>
      <p:pic>
        <p:nvPicPr>
          <p:cNvPr id="3" name="그림 2" descr="스케치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D066AE-F95C-4EF4-86E0-88088F352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706" y="1163782"/>
            <a:ext cx="4375785" cy="541149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798827-E7D2-8061-E62F-921857CBA5E1}"/>
              </a:ext>
            </a:extLst>
          </p:cNvPr>
          <p:cNvGrpSpPr/>
          <p:nvPr/>
        </p:nvGrpSpPr>
        <p:grpSpPr>
          <a:xfrm>
            <a:off x="1772727" y="1960527"/>
            <a:ext cx="4554182" cy="4045205"/>
            <a:chOff x="1634182" y="1812746"/>
            <a:chExt cx="8996448" cy="404520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9A07594-7BC5-6ED4-361E-1FCAC5B0D02B}"/>
                </a:ext>
              </a:extLst>
            </p:cNvPr>
            <p:cNvGrpSpPr/>
            <p:nvPr/>
          </p:nvGrpSpPr>
          <p:grpSpPr>
            <a:xfrm>
              <a:off x="1634182" y="1812746"/>
              <a:ext cx="8996448" cy="3475818"/>
              <a:chOff x="1727200" y="1969765"/>
              <a:chExt cx="8755111" cy="3475818"/>
            </a:xfrm>
          </p:grpSpPr>
          <p:pic>
            <p:nvPicPr>
              <p:cNvPr id="5" name="그림 4" descr="텍스트, 스크린샷, 원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6CAC90C-F136-731E-C4EA-20E92DBEA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27200" y="1969765"/>
                <a:ext cx="3342488" cy="3475818"/>
              </a:xfrm>
              <a:prstGeom prst="rect">
                <a:avLst/>
              </a:prstGeom>
            </p:spPr>
          </p:pic>
          <p:pic>
            <p:nvPicPr>
              <p:cNvPr id="6" name="그림 5" descr="텍스트, 스크린샷, 흑백, 의료 영상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A8E1453-EF38-F991-82C4-E67C37A60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27660" y="1969765"/>
                <a:ext cx="3154651" cy="3475818"/>
              </a:xfrm>
              <a:prstGeom prst="rect">
                <a:avLst/>
              </a:prstGeom>
            </p:spPr>
          </p:pic>
          <p:pic>
            <p:nvPicPr>
              <p:cNvPr id="7" name="그림 6" descr="텍스트, 의료 영상, 스크린샷, 산부인과 초음파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8E77C47-D8C9-6540-AA10-2AE2ED58F9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5214" y="1969765"/>
                <a:ext cx="3044021" cy="3475818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2AAC9A-2108-24F4-E72A-D4002C18E053}"/>
                </a:ext>
              </a:extLst>
            </p:cNvPr>
            <p:cNvSpPr txBox="1"/>
            <p:nvPr/>
          </p:nvSpPr>
          <p:spPr>
            <a:xfrm>
              <a:off x="1719106" y="5288564"/>
              <a:ext cx="2766949" cy="569387"/>
            </a:xfrm>
            <a:prstGeom prst="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Image Reconstruction at</a:t>
              </a: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 </a:t>
              </a:r>
              <a:r>
                <a:rPr lang="en-US" altLang="ko-KR" sz="1000" dirty="0" err="1">
                  <a:solidFill>
                    <a:srgbClr val="FF0000"/>
                  </a:solidFill>
                </a:rPr>
                <a:t>xy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BF450EB-9965-1539-033C-0C4F00AEF80A}"/>
              </a:ext>
            </a:extLst>
          </p:cNvPr>
          <p:cNvSpPr txBox="1"/>
          <p:nvPr/>
        </p:nvSpPr>
        <p:spPr>
          <a:xfrm>
            <a:off x="3323877" y="5436345"/>
            <a:ext cx="1400685" cy="5693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xz</a:t>
            </a:r>
            <a:r>
              <a:rPr lang="en-US" altLang="ko-KR" sz="1000" dirty="0">
                <a:solidFill>
                  <a:srgbClr val="FF0000"/>
                </a:solidFill>
              </a:rPr>
              <a:t>-plane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394F7-9979-FC9F-DE81-13FE77B5A6A2}"/>
              </a:ext>
            </a:extLst>
          </p:cNvPr>
          <p:cNvSpPr txBox="1"/>
          <p:nvPr/>
        </p:nvSpPr>
        <p:spPr>
          <a:xfrm>
            <a:off x="4860689" y="5436344"/>
            <a:ext cx="1400685" cy="5693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yz</a:t>
            </a:r>
            <a:r>
              <a:rPr lang="en-US" altLang="ko-KR" sz="1000" dirty="0">
                <a:solidFill>
                  <a:srgbClr val="FF0000"/>
                </a:solidFill>
              </a:rPr>
              <a:t>-plane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63F24D-3CCB-57D1-6F7A-750A77977C2F}"/>
              </a:ext>
            </a:extLst>
          </p:cNvPr>
          <p:cNvSpPr txBox="1"/>
          <p:nvPr/>
        </p:nvSpPr>
        <p:spPr>
          <a:xfrm>
            <a:off x="1702993" y="1357947"/>
            <a:ext cx="315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PWC - image reconstruction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0142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F1CE-6079-C6F6-A921-D760F34C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776DA-3B9A-F7C9-5DF9-F9F99EA7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Image Reconstruction </a:t>
            </a:r>
            <a:endParaRPr lang="ko-KR" altLang="en-US" dirty="0"/>
          </a:p>
        </p:txBody>
      </p:sp>
      <p:pic>
        <p:nvPicPr>
          <p:cNvPr id="4" name="그림 3" descr="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C9AF4D-A79E-1AE2-4B85-B1D8011CA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533" y="1491776"/>
            <a:ext cx="4180633" cy="4524374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BD8DD7EC-8A9E-A153-D081-AF9437AA7B26}"/>
              </a:ext>
            </a:extLst>
          </p:cNvPr>
          <p:cNvGrpSpPr/>
          <p:nvPr/>
        </p:nvGrpSpPr>
        <p:grpSpPr>
          <a:xfrm>
            <a:off x="1247182" y="2273724"/>
            <a:ext cx="6437014" cy="3267075"/>
            <a:chOff x="766921" y="2295525"/>
            <a:chExt cx="8981813" cy="3705225"/>
          </a:xfrm>
        </p:grpSpPr>
        <p:pic>
          <p:nvPicPr>
            <p:cNvPr id="7" name="그림 6" descr="텍스트, 스크린샷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FAB9F92-06E8-6F2D-D13F-5723C6B75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921" y="2296072"/>
              <a:ext cx="2931267" cy="3704678"/>
            </a:xfrm>
            <a:prstGeom prst="rect">
              <a:avLst/>
            </a:prstGeom>
          </p:spPr>
        </p:pic>
        <p:pic>
          <p:nvPicPr>
            <p:cNvPr id="9" name="그림 8" descr="텍스트, 스크린샷, 흑백, 모노크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2A553C8-8AC9-A0F7-C1E7-D2F3A4D5F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8188" y="2295525"/>
              <a:ext cx="3119279" cy="3704678"/>
            </a:xfrm>
            <a:prstGeom prst="rect">
              <a:avLst/>
            </a:prstGeom>
          </p:spPr>
        </p:pic>
        <p:pic>
          <p:nvPicPr>
            <p:cNvPr id="11" name="그림 10" descr="텍스트, 스크린샷, 엑스레이 필름, 흑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148668F-3FF6-B738-CA6B-E2424B85C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7467" y="2300292"/>
              <a:ext cx="2931267" cy="3699911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59E8A1A-0EE4-CE09-8229-2CE141AD46F0}"/>
              </a:ext>
            </a:extLst>
          </p:cNvPr>
          <p:cNvSpPr txBox="1"/>
          <p:nvPr/>
        </p:nvSpPr>
        <p:spPr>
          <a:xfrm>
            <a:off x="1597775" y="1491776"/>
            <a:ext cx="6205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PW – No-steering </a:t>
            </a:r>
          </a:p>
          <a:p>
            <a:r>
              <a:rPr lang="en-US" altLang="ko-KR" dirty="0"/>
              <a:t>image reconstruction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88824-982A-831B-47A3-C50EA21865D7}"/>
              </a:ext>
            </a:extLst>
          </p:cNvPr>
          <p:cNvSpPr txBox="1"/>
          <p:nvPr/>
        </p:nvSpPr>
        <p:spPr>
          <a:xfrm>
            <a:off x="1597217" y="5546302"/>
            <a:ext cx="1400685" cy="5693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xy</a:t>
            </a:r>
            <a:r>
              <a:rPr lang="en-US" altLang="ko-KR" sz="1000" dirty="0">
                <a:solidFill>
                  <a:srgbClr val="FF0000"/>
                </a:solidFill>
              </a:rPr>
              <a:t>-plane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E723D7-0D76-A0C3-6EA5-4D80F81CEA9E}"/>
              </a:ext>
            </a:extLst>
          </p:cNvPr>
          <p:cNvSpPr txBox="1"/>
          <p:nvPr/>
        </p:nvSpPr>
        <p:spPr>
          <a:xfrm>
            <a:off x="3738311" y="5540316"/>
            <a:ext cx="1400685" cy="5693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xz</a:t>
            </a:r>
            <a:r>
              <a:rPr lang="en-US" altLang="ko-KR" sz="1000" dirty="0">
                <a:solidFill>
                  <a:srgbClr val="FF0000"/>
                </a:solidFill>
              </a:rPr>
              <a:t>-plane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CA2FC-E896-9124-28BA-C9825F5A4E12}"/>
              </a:ext>
            </a:extLst>
          </p:cNvPr>
          <p:cNvSpPr txBox="1"/>
          <p:nvPr/>
        </p:nvSpPr>
        <p:spPr>
          <a:xfrm>
            <a:off x="5908220" y="5540316"/>
            <a:ext cx="1400685" cy="5693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Image Reconstruction at</a:t>
            </a: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yz</a:t>
            </a:r>
            <a:r>
              <a:rPr lang="en-US" altLang="ko-KR" sz="1000" dirty="0">
                <a:solidFill>
                  <a:srgbClr val="FF0000"/>
                </a:solidFill>
              </a:rPr>
              <a:t>-plane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5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4BDC-633B-21B4-3701-6E5DF566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5988F-0227-342F-13B4-B2672417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Result 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417C0F7-5E11-003E-98DF-151FB8548AAD}"/>
              </a:ext>
            </a:extLst>
          </p:cNvPr>
          <p:cNvGrpSpPr/>
          <p:nvPr/>
        </p:nvGrpSpPr>
        <p:grpSpPr>
          <a:xfrm>
            <a:off x="6139995" y="2011270"/>
            <a:ext cx="5595389" cy="3384610"/>
            <a:chOff x="4702925" y="1419224"/>
            <a:chExt cx="5736386" cy="3267075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F199948-8E7D-F0E4-5243-91D564A549CE}"/>
                </a:ext>
              </a:extLst>
            </p:cNvPr>
            <p:cNvGrpSpPr/>
            <p:nvPr/>
          </p:nvGrpSpPr>
          <p:grpSpPr>
            <a:xfrm>
              <a:off x="4702925" y="1419224"/>
              <a:ext cx="5736386" cy="3267075"/>
              <a:chOff x="766921" y="2295525"/>
              <a:chExt cx="8981813" cy="3705225"/>
            </a:xfrm>
          </p:grpSpPr>
          <p:pic>
            <p:nvPicPr>
              <p:cNvPr id="6" name="그림 5" descr="텍스트, 스크린샷, 원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609BA8D-6D98-8B75-2661-25988CE70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921" y="2296072"/>
                <a:ext cx="2931267" cy="37046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</p:pic>
          <p:pic>
            <p:nvPicPr>
              <p:cNvPr id="7" name="그림 6" descr="텍스트, 스크린샷, 흑백, 모노크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E7BC9DB-BE23-DF35-4358-4F4BB1B8C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98188" y="2295525"/>
                <a:ext cx="3119279" cy="37046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</p:pic>
          <p:pic>
            <p:nvPicPr>
              <p:cNvPr id="8" name="그림 7" descr="텍스트, 스크린샷, 엑스레이 필름, 흑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99B17DB-ED09-E9A4-EACC-A42B213C40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17468" y="2300292"/>
                <a:ext cx="2931266" cy="36999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E8F91C-8E19-B43A-88A5-8E30E9C4117D}"/>
                </a:ext>
              </a:extLst>
            </p:cNvPr>
            <p:cNvSpPr txBox="1"/>
            <p:nvPr/>
          </p:nvSpPr>
          <p:spPr>
            <a:xfrm>
              <a:off x="4938634" y="1828096"/>
              <a:ext cx="1337208" cy="2500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rgbClr val="FF0000"/>
                  </a:solidFill>
                </a:rPr>
                <a:t>xy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B6B7AA-D9B4-8E64-CB24-3FA6B55B2A80}"/>
                </a:ext>
              </a:extLst>
            </p:cNvPr>
            <p:cNvSpPr txBox="1"/>
            <p:nvPr/>
          </p:nvSpPr>
          <p:spPr>
            <a:xfrm>
              <a:off x="6930813" y="1767580"/>
              <a:ext cx="1400685" cy="30442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rgbClr val="FF0000"/>
                  </a:solidFill>
                </a:rPr>
                <a:t>xz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5F1F7E-FA01-0BF8-9772-EFAD9DFE5A61}"/>
                </a:ext>
              </a:extLst>
            </p:cNvPr>
            <p:cNvSpPr txBox="1"/>
            <p:nvPr/>
          </p:nvSpPr>
          <p:spPr>
            <a:xfrm>
              <a:off x="8838850" y="1722073"/>
              <a:ext cx="1328819" cy="2500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rgbClr val="FF0000"/>
                  </a:solidFill>
                </a:rPr>
                <a:t>yz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D2EF31-07B3-1548-B8C3-2FCE989BBEDE}"/>
              </a:ext>
            </a:extLst>
          </p:cNvPr>
          <p:cNvGrpSpPr/>
          <p:nvPr/>
        </p:nvGrpSpPr>
        <p:grpSpPr>
          <a:xfrm>
            <a:off x="407487" y="2071962"/>
            <a:ext cx="5385468" cy="3323418"/>
            <a:chOff x="348670" y="2338286"/>
            <a:chExt cx="5385468" cy="3323418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EACE6EB-C40C-7C45-DC9C-79B814554856}"/>
                </a:ext>
              </a:extLst>
            </p:cNvPr>
            <p:cNvGrpSpPr/>
            <p:nvPr/>
          </p:nvGrpSpPr>
          <p:grpSpPr>
            <a:xfrm>
              <a:off x="348670" y="2338286"/>
              <a:ext cx="5385468" cy="3323418"/>
              <a:chOff x="1634182" y="1812746"/>
              <a:chExt cx="8996448" cy="3475818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EE01EDED-DF69-8C53-2F4F-60B59EA62AB8}"/>
                  </a:ext>
                </a:extLst>
              </p:cNvPr>
              <p:cNvGrpSpPr/>
              <p:nvPr/>
            </p:nvGrpSpPr>
            <p:grpSpPr>
              <a:xfrm>
                <a:off x="1634182" y="1812746"/>
                <a:ext cx="8996448" cy="3475818"/>
                <a:chOff x="1727200" y="1969765"/>
                <a:chExt cx="8755111" cy="3475818"/>
              </a:xfrm>
            </p:grpSpPr>
            <p:pic>
              <p:nvPicPr>
                <p:cNvPr id="16" name="그림 15" descr="텍스트, 스크린샷, 원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6B7C756F-D9B3-F852-BF31-3DC10C15DE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7200" y="1969765"/>
                  <a:ext cx="3342488" cy="3475818"/>
                </a:xfrm>
                <a:prstGeom prst="rect">
                  <a:avLst/>
                </a:prstGeom>
              </p:spPr>
            </p:pic>
            <p:pic>
              <p:nvPicPr>
                <p:cNvPr id="17" name="그림 16" descr="텍스트, 스크린샷, 흑백, 의료 영상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8FB67B75-34AF-3D5C-65FE-1C332B15B4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27660" y="1969765"/>
                  <a:ext cx="3154651" cy="3475818"/>
                </a:xfrm>
                <a:prstGeom prst="rect">
                  <a:avLst/>
                </a:prstGeom>
              </p:spPr>
            </p:pic>
            <p:pic>
              <p:nvPicPr>
                <p:cNvPr id="18" name="그림 17" descr="텍스트, 의료 영상, 스크린샷, 산부인과 초음파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17F54818-46FA-2055-8AF8-9AD37C38E7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85213" y="1969765"/>
                  <a:ext cx="3044022" cy="3475818"/>
                </a:xfrm>
                <a:prstGeom prst="rect">
                  <a:avLst/>
                </a:prstGeom>
              </p:spPr>
            </p:pic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CB5B42-D0C6-12A0-F027-8E523F9C77AB}"/>
                  </a:ext>
                </a:extLst>
              </p:cNvPr>
              <p:cNvSpPr txBox="1"/>
              <p:nvPr/>
            </p:nvSpPr>
            <p:spPr>
              <a:xfrm>
                <a:off x="2412068" y="2223741"/>
                <a:ext cx="1974285" cy="24622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 err="1">
                    <a:solidFill>
                      <a:srgbClr val="FF0000"/>
                    </a:solidFill>
                  </a:rPr>
                  <a:t>xy</a:t>
                </a:r>
                <a:r>
                  <a:rPr lang="en-US" altLang="ko-KR" sz="1000" dirty="0">
                    <a:solidFill>
                      <a:srgbClr val="FF0000"/>
                    </a:solidFill>
                  </a:rPr>
                  <a:t>-plane </a:t>
                </a:r>
                <a:endParaRPr lang="ko-KR" altLang="en-US" sz="11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879E71-328E-3788-E0D1-801027949636}"/>
                </a:ext>
              </a:extLst>
            </p:cNvPr>
            <p:cNvSpPr txBox="1"/>
            <p:nvPr/>
          </p:nvSpPr>
          <p:spPr>
            <a:xfrm>
              <a:off x="2431308" y="2725862"/>
              <a:ext cx="966635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rgbClr val="FF0000"/>
                  </a:solidFill>
                </a:rPr>
                <a:t>xz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CD383E-5A18-B7A3-4598-A8A3F9EA4CC1}"/>
                </a:ext>
              </a:extLst>
            </p:cNvPr>
            <p:cNvSpPr txBox="1"/>
            <p:nvPr/>
          </p:nvSpPr>
          <p:spPr>
            <a:xfrm>
              <a:off x="4283876" y="2799352"/>
              <a:ext cx="973002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err="1">
                  <a:solidFill>
                    <a:srgbClr val="FF0000"/>
                  </a:solidFill>
                </a:rPr>
                <a:t>yz</a:t>
              </a:r>
              <a:r>
                <a:rPr lang="en-US" altLang="ko-KR" sz="1000" dirty="0">
                  <a:solidFill>
                    <a:srgbClr val="FF0000"/>
                  </a:solidFill>
                </a:rPr>
                <a:t>-plane 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A333CE3-64B7-0F22-2B7F-9AEA5FD7835A}"/>
              </a:ext>
            </a:extLst>
          </p:cNvPr>
          <p:cNvSpPr txBox="1"/>
          <p:nvPr/>
        </p:nvSpPr>
        <p:spPr>
          <a:xfrm>
            <a:off x="7722324" y="1641938"/>
            <a:ext cx="2143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PW – no steering 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F47772-4A0E-4D74-DF24-204E7E0039B6}"/>
              </a:ext>
            </a:extLst>
          </p:cNvPr>
          <p:cNvSpPr txBox="1"/>
          <p:nvPr/>
        </p:nvSpPr>
        <p:spPr>
          <a:xfrm>
            <a:off x="505079" y="1641938"/>
            <a:ext cx="536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CPW steering angles (−20°, −10°, 0°, +10°, +20°)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7492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6DB4-2234-D3AF-B195-08B9112F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52C40-D7C2-CE8F-FCBD-6A9CFCDA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Next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E3D09-F508-DBB3-5168-02264DB349F3}"/>
              </a:ext>
            </a:extLst>
          </p:cNvPr>
          <p:cNvSpPr txBox="1"/>
          <p:nvPr/>
        </p:nvSpPr>
        <p:spPr>
          <a:xfrm>
            <a:off x="1809750" y="1352550"/>
            <a:ext cx="8283037" cy="20492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Study and simulate DAS Beamforming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ADAPTIVE Beam Forming – extend to Deep learning-adaptive Beamforming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Comparing DAS and Adaptive Beamforming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509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0EC519-16BD-4961-9921-F9B4B7CE71D2}"/>
              </a:ext>
            </a:extLst>
          </p:cNvPr>
          <p:cNvSpPr/>
          <p:nvPr/>
        </p:nvSpPr>
        <p:spPr>
          <a:xfrm>
            <a:off x="1612509" y="1092338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CA897-CAB0-4167-B5DC-042024D9113C}"/>
              </a:ext>
            </a:extLst>
          </p:cNvPr>
          <p:cNvSpPr txBox="1"/>
          <p:nvPr/>
        </p:nvSpPr>
        <p:spPr>
          <a:xfrm>
            <a:off x="2015391" y="1933527"/>
            <a:ext cx="7640278" cy="20186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400" b="1" dirty="0">
                <a:latin typeface="+mn-ea"/>
              </a:rPr>
              <a:t>감사합니다</a:t>
            </a:r>
            <a:endParaRPr lang="en-US" altLang="ko-KR" sz="3400" b="1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3400" b="1" dirty="0">
                <a:latin typeface="+mn-ea"/>
              </a:rPr>
              <a:t>Thank you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8B4D90-DB8E-46A8-A9BB-2E8E77FFB8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EC6F39-064B-4DEA-8521-64A1FB3F36BF}"/>
              </a:ext>
            </a:extLst>
          </p:cNvPr>
          <p:cNvSpPr/>
          <p:nvPr/>
        </p:nvSpPr>
        <p:spPr>
          <a:xfrm>
            <a:off x="1612509" y="4953177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7864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46F1-E9BC-D654-D0D9-55227C4D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7788-E68E-DEBD-4A14-60776C88A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71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3FF0-9AC9-22F1-9ABB-CFE2D93B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8545-FEAD-DF77-67F2-3274E419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33CCAB1-4229-5E6D-8297-46DC0B15D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75" y="365125"/>
            <a:ext cx="10935855" cy="554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1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770BFC-3610-A4D3-468F-BF77A1859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122" y="457200"/>
            <a:ext cx="116952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0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랩미팅용 글꼴">
      <a:majorFont>
        <a:latin typeface="helvetica"/>
        <a:ea typeface="맑은 고딕"/>
        <a:cs typeface=""/>
      </a:majorFont>
      <a:minorFont>
        <a:latin typeface="helvetic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6159</TotalTime>
  <Words>1466</Words>
  <Application>Microsoft Office PowerPoint</Application>
  <PresentationFormat>Widescreen</PresentationFormat>
  <Paragraphs>213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맑은 고딕</vt:lpstr>
      <vt:lpstr>Arial</vt:lpstr>
      <vt:lpstr>Helvetica</vt:lpstr>
      <vt:lpstr>Helvetica</vt:lpstr>
      <vt:lpstr>Wingdings</vt:lpstr>
      <vt:lpstr>Office 테마</vt:lpstr>
      <vt:lpstr>디자인 사용자 지정</vt:lpstr>
      <vt:lpstr>2025/11/11 – lab meeting  (Capstone Project Progress)</vt:lpstr>
      <vt:lpstr>01. Objectives</vt:lpstr>
      <vt:lpstr>02. Setup</vt:lpstr>
      <vt:lpstr>02. Setup</vt:lpstr>
      <vt:lpstr>02. Setup </vt:lpstr>
      <vt:lpstr>02. Setup – Media &amp; PData Geometry</vt:lpstr>
      <vt:lpstr>03. Simulation – TX </vt:lpstr>
      <vt:lpstr>03. Simulation – TX </vt:lpstr>
      <vt:lpstr>03. Simulation – TX </vt:lpstr>
      <vt:lpstr>03. Simulation – TX </vt:lpstr>
      <vt:lpstr>03. Simulation – TX </vt:lpstr>
      <vt:lpstr>03. Simulation – Rx</vt:lpstr>
      <vt:lpstr>03. Simulation – Rx</vt:lpstr>
      <vt:lpstr>03. Simulation – Image Reconstruction </vt:lpstr>
      <vt:lpstr>03. Simulation – Image Reconstruction </vt:lpstr>
      <vt:lpstr>03. Simulation – Image Reconstruction </vt:lpstr>
      <vt:lpstr>04. Result </vt:lpstr>
      <vt:lpstr>04. Next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이다경</dc:creator>
  <cp:lastModifiedBy>Deoliana Mailde Tilman Magalhaes</cp:lastModifiedBy>
  <cp:revision>23</cp:revision>
  <dcterms:created xsi:type="dcterms:W3CDTF">2025-07-28T06:28:11Z</dcterms:created>
  <dcterms:modified xsi:type="dcterms:W3CDTF">2025-11-11T06:24:16Z</dcterms:modified>
</cp:coreProperties>
</file>